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a947f0-cfd3-49a4-a73f-132303598624}">
          <p14:sldIdLst>
            <p14:sldId id="256"/>
          </p14:sldIdLst>
        </p14:section>
        <p14:section name="Background" id="{163b98e8-81c1-2365-117a-0236cfe9bee1}">
          <p14:sldIdLst>
            <p14:sldId id="257"/>
            <p14:sldId id="258"/>
            <p14:sldId id="259"/>
          </p14:sldIdLst>
        </p14:section>
        <p14:section name="Design" id="{55d89bcb-19ad-bcd4-9279-27dae078fff2}">
          <p14:sldIdLst>
            <p14:sldId id="260"/>
            <p14:sldId id="261"/>
          </p14:sldIdLst>
        </p14:section>
        <p14:section name="Results" id="{8844cec7-578c-23aa-426c-28a447a1d628}">
          <p14:sldIdLst>
            <p14:sldId id="262"/>
          </p14:sldIdLst>
        </p14:section>
        <p14:section name="Closing" id="{e3a293cb-caf9-5e31-a924-2768ed96f95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the Linux Storage Monitoring System. We built it for the Linux System Administration course (E1ITA307) under Prof. Kusuma J. It is a web dashboard that shows disk space and inode usage on a Linux machine, so storage problems are easy to see. The three coloured bars on the right show the idea: normal, warning at 80 percent, and critical at 90 percent. The bars are only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runs most servers, virtual machines and cloud systems. These systems need enough free disk space, or applications can fail. Linux already has tools to check storage: df for usage, df -i for inodes, lsblk for block devices and findmnt for mounted filesystems. But you must run them one by one and read the raw output yourself. Our idea is to bring them together in one web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If disk space or inodes run out, applications cannot create files, logs can stop updating, and the system can misbehave. Checking this from the command line means running several commands and reading each output separately, which is not easy for beginners. So we need one simple web interface that collects the data, shows it clearly, warns when thresholds are crossed, and supports reports and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aim is a web dashboard for Linux storage monitoring. It should show capacity, used and free space, and usage percentage. It should also watch inodes, connect Linux commands to the web page, let users set warning and critical thresholds, simulate alerts safely, write logs, and create downloadable reports. The scope is local, educational use on the Linux system where it runs. It does not yet clean disks, create partitions, resize filesystems or run scheduled checks. Those are left for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system works. The user opens the dashboard in a browser, built with HTML, CSS and JavaScript. The browser talks to a Python Flask backend using HTTP requests. The backend runs only approved Linux commands such as df, df -i, lsblk and findmnt, and sends the result back as JSON. The backend also saves thresholds in config.json, writes a log file and creates report files. Everything runs inside a Kali Linux virtual machine on Oracle VirtualBox on a Windows computer. We built it in seven steps: requirement analysis, environment setup, backend, frontend, integration, testing and documentation. Requirements in short: a laptop or desktop that can run VirtualBox with enough RAM and storage, Windows as host, Kali Linux as guest, Python 3 with a virtual environment, Flask, and a browser such as Firefox. Internet is only needed to install packages and load Google Fonts.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features. The core one is filesystem monitoring, using df, lsblk and findmnt to show type, capacity, used and free space, mount point and usage percentage. Inode monitoring uses df -i, because a disk can run out of inodes even when space is still free. Usage is checked against two limits: the default warning level is 80 percent and critical is 90 percent. You can change them in the dashboard and they are saved in config.json. The command console runs only five approved commands. Alert simulation lets you enter a test percentage; it does not fill the disk, and the event is written to the log. The log also records commands, threshold changes and reports. Reports are text files with host, time, thresholds, filesystem and inode details. For security, the server binds to 127.0.0.1, uses an allowlist and needs no admin commands. It is for learning and is not production ready: there is no login, role-based access control or full security audit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The dashboard works as planned. Its summary cards show the number of filesystems found, the highest disk usage, the number of active alerts, and the hostname. Below them are tables for capacity, used and free space, mount points, inode data and status. We tested nine cases: dashboard launch, filesystem data, inode data, command output, threshold update, alert simulation, log viewing, report download, and rejection of a wrong simulation input. In all nine, the actual result matched what we expected. The report itself says final results should be backed by screenshots and test outputs from the running Kali Linux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project shows how Linux commands can be joined with a web interface to make storage monitoring easier. It gives one dashboard for disk space, inode use, alerts, command output, logs and reports. It uses real ideas from Linux administration, backend development, configuration and basic security. It has limits: it does not clean or resize disks, the simulation does not create real disk pressure, and there are no scheduled checks, history graphs, email alerts or multi-user login. In the future we can add Cron-based monitoring, usage graphs, email notifications, du-based storage analysis, backup tools, login with roles, multi-machine monitoring and better reports. References are the Linux man-pages for df, lsblk and findmnt, plus the Flask, Python 3, Kali Linux and VirtualBox documentation.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722376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7223760" cy="7315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1000" dirty="0">
                <a:solidFill>
                  <a:schemeClr val="accent5"/>
                </a:solidFill>
              </a:rPr>
              <a:t>Linux Storage Monitoring System  |  Alliance University</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algn="l" indent="0" marL="0">
              <a:buNone/>
            </a:pPr>
            <a:r>
              <a:rPr lang="en-US" sz="1000" dirty="0">
                <a:solidFill>
                  <a:schemeClr val="bg2"/>
                </a:solidFill>
              </a:rPr>
              <a:t>Linux Storage Monitoring System  |  Alliance University</a:t>
            </a:r>
            <a:endParaRPr lang="en-US" sz="1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3.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731520" y="548640"/>
            <a:ext cx="3291840" cy="731520"/>
          </a:xfrm>
          <a:prstGeom prst="roundRect">
            <a:avLst>
              <a:gd name="adj" fmla="val 12500"/>
            </a:avLst>
          </a:prstGeom>
          <a:solidFill>
            <a:schemeClr val="bg1"/>
          </a:solidFill>
          <a:ln/>
        </p:spPr>
      </p:sp>
      <p:pic>
        <p:nvPicPr>
          <p:cNvPr id="3" name="Image 0" descr="Alliance University logo">    </p:cNvPr>
          <p:cNvPicPr>
            <a:picLocks noChangeAspect="1"/>
          </p:cNvPicPr>
          <p:nvPr/>
        </p:nvPicPr>
        <p:blipFill>
          <a:blip r:embed="rId1"/>
          <a:stretch>
            <a:fillRect/>
          </a:stretch>
        </p:blipFill>
        <p:spPr>
          <a:xfrm>
            <a:off x="868680" y="697687"/>
            <a:ext cx="3017520" cy="433426"/>
          </a:xfrm>
          <a:prstGeom prst="rect">
            <a:avLst/>
          </a:prstGeom>
        </p:spPr>
      </p:pic>
      <p:sp>
        <p:nvSpPr>
          <p:cNvPr id="4" name="Text 1"/>
          <p:cNvSpPr txBox="1"/>
          <p:nvPr/>
        </p:nvSpPr>
        <p:spPr>
          <a:xfrm>
            <a:off x="731520" y="1600200"/>
            <a:ext cx="7223760" cy="320040"/>
          </a:xfrm>
          <a:prstGeom prst="rect">
            <a:avLst/>
          </a:prstGeom>
          <a:noFill/>
          <a:ln/>
        </p:spPr>
        <p:txBody>
          <a:bodyPr wrap="square" lIns="0" tIns="0" rIns="0" bIns="0" rtlCol="0" anchor="t"/>
          <a:lstStyle/>
          <a:p>
            <a:pPr algn="l" indent="0" marL="0">
              <a:buNone/>
            </a:pPr>
            <a:r>
              <a:rPr lang="en-US" sz="1600" b="1" dirty="0">
                <a:solidFill>
                  <a:schemeClr val="accent2"/>
                </a:solidFill>
              </a:rPr>
              <a:t>Linux System Administration (E1ITA307)  |  Infrastructure Deployment Project</a:t>
            </a:r>
            <a:endParaRPr lang="en-US" sz="1600" dirty="0"/>
          </a:p>
        </p:txBody>
      </p:sp>
      <p:sp>
        <p:nvSpPr>
          <p:cNvPr id="5" name="Text 0"/>
          <p:cNvSpPr/>
          <p:nvPr>
            <p:ph idx="100" type="title" hasCustomPrompt="1"/>
          </p:nvPr>
        </p:nvSpPr>
        <p:spPr>
          <a:xfrm>
            <a:off x="731520" y="2057400"/>
            <a:ext cx="7223760" cy="1554480"/>
          </a:xfrm>
          <a:prstGeom prst="rect">
            <a:avLst/>
          </a:prstGeom>
          <a:noFill/>
          <a:ln/>
        </p:spPr>
        <p:txBody>
          <a:bodyPr wrap="square" lIns="0" tIns="0" rIns="0" bIns="0" rtlCol="0" anchor="t"/>
          <a:lstStyle/>
          <a:p>
            <a:pPr algn="l" indent="0" marL="0">
              <a:buNone/>
            </a:pPr>
            <a:r>
              <a:rPr lang="en-US" sz="4400" b="1" dirty="0">
                <a:solidFill>
                  <a:schemeClr val="bg1"/>
                </a:solidFill>
              </a:rPr>
              <a:t>Linux Storage Monitoring System</a:t>
            </a:r>
            <a:endParaRPr lang="en-US" sz="4400" dirty="0"/>
          </a:p>
        </p:txBody>
      </p:sp>
      <p:sp>
        <p:nvSpPr>
          <p:cNvPr id="6" name="Text 0"/>
          <p:cNvSpPr/>
          <p:nvPr>
            <p:ph idx="101" type="body" hasCustomPrompt="1"/>
          </p:nvPr>
        </p:nvSpPr>
        <p:spPr>
          <a:xfrm>
            <a:off x="731520" y="3657600"/>
            <a:ext cx="7223760" cy="731520"/>
          </a:xfrm>
          <a:prstGeom prst="rect">
            <a:avLst/>
          </a:prstGeom>
          <a:noFill/>
          <a:ln/>
        </p:spPr>
        <p:txBody>
          <a:bodyPr wrap="square" lIns="0" tIns="0" rIns="0" bIns="0" rtlCol="0" anchor="t"/>
          <a:lstStyle/>
          <a:p>
            <a:pPr algn="l" indent="0" marL="0">
              <a:buNone/>
            </a:pPr>
            <a:r>
              <a:rPr lang="en-US" sz="2000" dirty="0">
                <a:solidFill>
                  <a:schemeClr val="bg2"/>
                </a:solidFill>
              </a:rPr>
              <a:t>A web dashboard for disk and inode monitoring on Linux</a:t>
            </a:r>
            <a:endParaRPr lang="en-US" sz="2000" dirty="0"/>
          </a:p>
        </p:txBody>
      </p:sp>
      <p:sp>
        <p:nvSpPr>
          <p:cNvPr id="7" name="Text 4"/>
          <p:cNvSpPr txBox="1"/>
          <p:nvPr/>
        </p:nvSpPr>
        <p:spPr>
          <a:xfrm>
            <a:off x="731520" y="4572000"/>
            <a:ext cx="3200400" cy="228600"/>
          </a:xfrm>
          <a:prstGeom prst="rect">
            <a:avLst/>
          </a:prstGeom>
          <a:noFill/>
          <a:ln/>
        </p:spPr>
        <p:txBody>
          <a:bodyPr wrap="square" lIns="0" tIns="0" rIns="0" bIns="0" rtlCol="0" anchor="t"/>
          <a:lstStyle/>
          <a:p>
            <a:pPr algn="l" indent="0" marL="0">
              <a:buNone/>
            </a:pPr>
            <a:r>
              <a:rPr lang="en-US" sz="1100" b="1" spc="200" kern="0" dirty="0">
                <a:solidFill>
                  <a:schemeClr val="bg2"/>
                </a:solidFill>
              </a:rPr>
              <a:t>SUBMITTED BY</a:t>
            </a:r>
            <a:endParaRPr lang="en-US" sz="1100" dirty="0"/>
          </a:p>
        </p:txBody>
      </p:sp>
      <p:sp>
        <p:nvSpPr>
          <p:cNvPr id="8" name="Text 5"/>
          <p:cNvSpPr txBox="1"/>
          <p:nvPr/>
        </p:nvSpPr>
        <p:spPr>
          <a:xfrm>
            <a:off x="731520" y="4846320"/>
            <a:ext cx="3840480" cy="914400"/>
          </a:xfrm>
          <a:prstGeom prst="rect">
            <a:avLst/>
          </a:prstGeom>
          <a:noFill/>
          <a:ln/>
        </p:spPr>
        <p:txBody>
          <a:bodyPr wrap="square" lIns="0" tIns="0" rIns="0" bIns="0" rtlCol="0" anchor="t"/>
          <a:lstStyle/>
          <a:p>
            <a:pPr algn="l" indent="0" marL="0">
              <a:spcAft>
                <a:spcPts val="300"/>
              </a:spcAft>
              <a:buNone/>
            </a:pPr>
            <a:r>
              <a:rPr lang="en-US" sz="1500" dirty="0">
                <a:solidFill>
                  <a:schemeClr val="bg1"/>
                </a:solidFill>
              </a:rPr>
              <a:t>Koushik K T  (2411021060147)</a:t>
            </a:r>
            <a:endParaRPr lang="en-US" sz="1500" dirty="0"/>
          </a:p>
          <a:p>
            <a:pPr algn="l" indent="0" marL="0">
              <a:spcAft>
                <a:spcPts val="300"/>
              </a:spcAft>
              <a:buNone/>
            </a:pPr>
            <a:r>
              <a:rPr lang="en-US" sz="1500" dirty="0">
                <a:solidFill>
                  <a:schemeClr val="bg1"/>
                </a:solidFill>
              </a:rPr>
              <a:t>Nehaa Mahesh  (2411021060103)</a:t>
            </a:r>
            <a:endParaRPr lang="en-US" sz="1500" dirty="0"/>
          </a:p>
          <a:p>
            <a:pPr algn="l" indent="0" marL="0">
              <a:spcAft>
                <a:spcPts val="300"/>
              </a:spcAft>
              <a:buNone/>
            </a:pPr>
            <a:r>
              <a:rPr lang="en-US" sz="1500" dirty="0">
                <a:solidFill>
                  <a:schemeClr val="bg1"/>
                </a:solidFill>
              </a:rPr>
              <a:t>Shauryaman Singh  (2411021060077)</a:t>
            </a:r>
            <a:endParaRPr lang="en-US" sz="1500" dirty="0"/>
          </a:p>
        </p:txBody>
      </p:sp>
      <p:sp>
        <p:nvSpPr>
          <p:cNvPr id="9" name="Text 6"/>
          <p:cNvSpPr txBox="1"/>
          <p:nvPr/>
        </p:nvSpPr>
        <p:spPr>
          <a:xfrm>
            <a:off x="4937760" y="4572000"/>
            <a:ext cx="3017520" cy="228600"/>
          </a:xfrm>
          <a:prstGeom prst="rect">
            <a:avLst/>
          </a:prstGeom>
          <a:noFill/>
          <a:ln/>
        </p:spPr>
        <p:txBody>
          <a:bodyPr wrap="square" lIns="0" tIns="0" rIns="0" bIns="0" rtlCol="0" anchor="t"/>
          <a:lstStyle/>
          <a:p>
            <a:pPr algn="l" indent="0" marL="0">
              <a:buNone/>
            </a:pPr>
            <a:r>
              <a:rPr lang="en-US" sz="1100" b="1" spc="200" kern="0" dirty="0">
                <a:solidFill>
                  <a:schemeClr val="bg2"/>
                </a:solidFill>
              </a:rPr>
              <a:t>SUPERVISOR</a:t>
            </a:r>
            <a:endParaRPr lang="en-US" sz="1100" dirty="0"/>
          </a:p>
        </p:txBody>
      </p:sp>
      <p:sp>
        <p:nvSpPr>
          <p:cNvPr id="10" name="Text 7"/>
          <p:cNvSpPr txBox="1"/>
          <p:nvPr/>
        </p:nvSpPr>
        <p:spPr>
          <a:xfrm>
            <a:off x="4937760" y="4846320"/>
            <a:ext cx="3017520" cy="320040"/>
          </a:xfrm>
          <a:prstGeom prst="rect">
            <a:avLst/>
          </a:prstGeom>
          <a:noFill/>
          <a:ln/>
        </p:spPr>
        <p:txBody>
          <a:bodyPr wrap="square" lIns="0" tIns="0" rIns="0" bIns="0" rtlCol="0" anchor="t"/>
          <a:lstStyle/>
          <a:p>
            <a:pPr algn="l" indent="0" marL="0">
              <a:buNone/>
            </a:pPr>
            <a:r>
              <a:rPr lang="en-US" sz="1500" dirty="0">
                <a:solidFill>
                  <a:schemeClr val="bg1"/>
                </a:solidFill>
              </a:rPr>
              <a:t>Prof. Kusuma J</a:t>
            </a:r>
            <a:endParaRPr lang="en-US" sz="1500" dirty="0"/>
          </a:p>
        </p:txBody>
      </p:sp>
      <p:sp>
        <p:nvSpPr>
          <p:cNvPr id="11" name="Text 8"/>
          <p:cNvSpPr txBox="1"/>
          <p:nvPr/>
        </p:nvSpPr>
        <p:spPr>
          <a:xfrm>
            <a:off x="731520" y="5897880"/>
            <a:ext cx="7498080" cy="502920"/>
          </a:xfrm>
          <a:prstGeom prst="rect">
            <a:avLst/>
          </a:prstGeom>
          <a:noFill/>
          <a:ln/>
        </p:spPr>
        <p:txBody>
          <a:bodyPr wrap="square" lIns="0" tIns="0" rIns="0" bIns="0" rtlCol="0" anchor="t"/>
          <a:lstStyle/>
          <a:p>
            <a:pPr algn="l" indent="0" marL="0">
              <a:spcAft>
                <a:spcPts val="200"/>
              </a:spcAft>
              <a:buNone/>
            </a:pPr>
            <a:r>
              <a:rPr lang="en-US" sz="1200" dirty="0">
                <a:solidFill>
                  <a:schemeClr val="bg2"/>
                </a:solidFill>
              </a:rPr>
              <a:t>B.Tech in Information Technology  |  Oct 2026</a:t>
            </a:r>
            <a:endParaRPr lang="en-US" sz="1200" dirty="0"/>
          </a:p>
          <a:p>
            <a:pPr algn="l" indent="0" marL="0">
              <a:spcAft>
                <a:spcPts val="200"/>
              </a:spcAft>
              <a:buNone/>
            </a:pPr>
            <a:r>
              <a:rPr lang="en-US" sz="1200" dirty="0">
                <a:solidFill>
                  <a:schemeClr val="bg2"/>
                </a:solidFill>
              </a:rPr>
              <a:t>Alliance School of Advanced Computing, Alliance University, Bengaluru</a:t>
            </a:r>
            <a:endParaRPr lang="en-US" sz="1200" dirty="0"/>
          </a:p>
        </p:txBody>
      </p:sp>
      <p:sp>
        <p:nvSpPr>
          <p:cNvPr id="12" name="Card status panel"/>
          <p:cNvSpPr/>
          <p:nvPr/>
        </p:nvSpPr>
        <p:spPr>
          <a:xfrm>
            <a:off x="8503920" y="1463040"/>
            <a:ext cx="3136392" cy="4297680"/>
          </a:xfrm>
          <a:prstGeom prst="roundRect">
            <a:avLst>
              <a:gd name="adj" fmla="val 3499"/>
            </a:avLst>
          </a:prstGeom>
          <a:solidFill>
            <a:schemeClr val="tx2"/>
          </a:solidFill>
          <a:ln/>
        </p:spPr>
      </p:sp>
      <p:sp>
        <p:nvSpPr>
          <p:cNvPr id="13" name="Icon circle disk"/>
          <p:cNvSpPr/>
          <p:nvPr/>
        </p:nvSpPr>
        <p:spPr>
          <a:xfrm>
            <a:off x="8823960" y="1783080"/>
            <a:ext cx="640080" cy="640080"/>
          </a:xfrm>
          <a:prstGeom prst="ellipse">
            <a:avLst/>
          </a:prstGeom>
          <a:solidFill>
            <a:schemeClr val="accent1"/>
          </a:solidFill>
          <a:ln/>
        </p:spPr>
      </p:sp>
      <p:pic>
        <p:nvPicPr>
          <p:cNvPr id="14" name="Image 1" descr="Hdd icon">    </p:cNvPr>
          <p:cNvPicPr>
            <a:picLocks noChangeAspect="1"/>
          </p:cNvPicPr>
          <p:nvPr/>
        </p:nvPicPr>
        <p:blipFill>
          <a:blip r:embed="rId2"/>
          <a:stretch>
            <a:fillRect/>
          </a:stretch>
        </p:blipFill>
        <p:spPr>
          <a:xfrm>
            <a:off x="8983980" y="1943100"/>
            <a:ext cx="320040" cy="320040"/>
          </a:xfrm>
          <a:prstGeom prst="rect">
            <a:avLst/>
          </a:prstGeom>
        </p:spPr>
      </p:pic>
      <p:sp>
        <p:nvSpPr>
          <p:cNvPr id="15" name="Text 11"/>
          <p:cNvSpPr txBox="1"/>
          <p:nvPr/>
        </p:nvSpPr>
        <p:spPr>
          <a:xfrm>
            <a:off x="9601200" y="1874520"/>
            <a:ext cx="1920240" cy="457200"/>
          </a:xfrm>
          <a:prstGeom prst="rect">
            <a:avLst/>
          </a:prstGeom>
          <a:noFill/>
          <a:ln/>
        </p:spPr>
        <p:txBody>
          <a:bodyPr wrap="square" lIns="0" tIns="0" rIns="0" bIns="0" rtlCol="0" anchor="ctr"/>
          <a:lstStyle/>
          <a:p>
            <a:pPr algn="l" indent="0" marL="0">
              <a:buNone/>
            </a:pPr>
            <a:r>
              <a:rPr lang="en-US" sz="1600" b="1" dirty="0">
                <a:solidFill>
                  <a:schemeClr val="bg1"/>
                </a:solidFill>
              </a:rPr>
              <a:t>Storage status</a:t>
            </a:r>
            <a:endParaRPr lang="en-US" sz="1600" dirty="0"/>
          </a:p>
        </p:txBody>
      </p:sp>
      <p:sp>
        <p:nvSpPr>
          <p:cNvPr id="16" name="Text 12"/>
          <p:cNvSpPr txBox="1"/>
          <p:nvPr/>
        </p:nvSpPr>
        <p:spPr>
          <a:xfrm>
            <a:off x="8823960" y="2926080"/>
            <a:ext cx="2560320" cy="274320"/>
          </a:xfrm>
          <a:prstGeom prst="rect">
            <a:avLst/>
          </a:prstGeom>
          <a:noFill/>
          <a:ln/>
        </p:spPr>
        <p:txBody>
          <a:bodyPr wrap="square" lIns="0" tIns="0" rIns="0" bIns="0" rtlCol="0" anchor="t"/>
          <a:lstStyle/>
          <a:p>
            <a:pPr algn="l" indent="0" marL="0">
              <a:buNone/>
            </a:pPr>
            <a:r>
              <a:rPr lang="en-US" sz="1400" b="1" dirty="0">
                <a:solidFill>
                  <a:schemeClr val="bg1"/>
                </a:solidFill>
              </a:rPr>
              <a:t>Normal</a:t>
            </a:r>
            <a:endParaRPr lang="en-US" sz="1400" dirty="0"/>
          </a:p>
        </p:txBody>
      </p:sp>
      <p:sp>
        <p:nvSpPr>
          <p:cNvPr id="17" name="Bar track 1"/>
          <p:cNvSpPr/>
          <p:nvPr/>
        </p:nvSpPr>
        <p:spPr>
          <a:xfrm>
            <a:off x="8823960" y="3273552"/>
            <a:ext cx="2496312" cy="237744"/>
          </a:xfrm>
          <a:prstGeom prst="roundRect">
            <a:avLst>
              <a:gd name="adj" fmla="val 23077"/>
            </a:avLst>
          </a:prstGeom>
          <a:solidFill>
            <a:schemeClr val="accent6"/>
          </a:solidFill>
          <a:ln/>
        </p:spPr>
      </p:sp>
      <p:sp>
        <p:nvSpPr>
          <p:cNvPr id="18" name="Bar fill 1"/>
          <p:cNvSpPr/>
          <p:nvPr/>
        </p:nvSpPr>
        <p:spPr>
          <a:xfrm>
            <a:off x="8823960" y="3273552"/>
            <a:ext cx="1123340" cy="237744"/>
          </a:xfrm>
          <a:prstGeom prst="roundRect">
            <a:avLst>
              <a:gd name="adj" fmla="val 23077"/>
            </a:avLst>
          </a:prstGeom>
          <a:solidFill>
            <a:schemeClr val="accent1"/>
          </a:solidFill>
          <a:ln/>
        </p:spPr>
      </p:sp>
      <p:sp>
        <p:nvSpPr>
          <p:cNvPr id="19" name="Text 15"/>
          <p:cNvSpPr txBox="1"/>
          <p:nvPr/>
        </p:nvSpPr>
        <p:spPr>
          <a:xfrm>
            <a:off x="8823960" y="3822192"/>
            <a:ext cx="2560320" cy="274320"/>
          </a:xfrm>
          <a:prstGeom prst="rect">
            <a:avLst/>
          </a:prstGeom>
          <a:noFill/>
          <a:ln/>
        </p:spPr>
        <p:txBody>
          <a:bodyPr wrap="square" lIns="0" tIns="0" rIns="0" bIns="0" rtlCol="0" anchor="t"/>
          <a:lstStyle/>
          <a:p>
            <a:pPr algn="l" indent="0" marL="0">
              <a:buNone/>
            </a:pPr>
            <a:r>
              <a:rPr lang="en-US" sz="1400" b="1" dirty="0">
                <a:solidFill>
                  <a:schemeClr val="bg1"/>
                </a:solidFill>
              </a:rPr>
              <a:t>Warning  (80%)</a:t>
            </a:r>
            <a:endParaRPr lang="en-US" sz="1400" dirty="0"/>
          </a:p>
        </p:txBody>
      </p:sp>
      <p:sp>
        <p:nvSpPr>
          <p:cNvPr id="20" name="Bar track 2"/>
          <p:cNvSpPr/>
          <p:nvPr/>
        </p:nvSpPr>
        <p:spPr>
          <a:xfrm>
            <a:off x="8823960" y="4169664"/>
            <a:ext cx="2496312" cy="237744"/>
          </a:xfrm>
          <a:prstGeom prst="roundRect">
            <a:avLst>
              <a:gd name="adj" fmla="val 23077"/>
            </a:avLst>
          </a:prstGeom>
          <a:solidFill>
            <a:schemeClr val="accent6"/>
          </a:solidFill>
          <a:ln/>
        </p:spPr>
      </p:sp>
      <p:sp>
        <p:nvSpPr>
          <p:cNvPr id="21" name="Bar fill 2"/>
          <p:cNvSpPr/>
          <p:nvPr/>
        </p:nvSpPr>
        <p:spPr>
          <a:xfrm>
            <a:off x="8823960" y="4169664"/>
            <a:ext cx="1997050" cy="237744"/>
          </a:xfrm>
          <a:prstGeom prst="roundRect">
            <a:avLst>
              <a:gd name="adj" fmla="val 23077"/>
            </a:avLst>
          </a:prstGeom>
          <a:solidFill>
            <a:schemeClr val="accent2"/>
          </a:solidFill>
          <a:ln/>
        </p:spPr>
      </p:sp>
      <p:sp>
        <p:nvSpPr>
          <p:cNvPr id="22" name="Text 18"/>
          <p:cNvSpPr txBox="1"/>
          <p:nvPr/>
        </p:nvSpPr>
        <p:spPr>
          <a:xfrm>
            <a:off x="8823960" y="4718304"/>
            <a:ext cx="2560320" cy="274320"/>
          </a:xfrm>
          <a:prstGeom prst="rect">
            <a:avLst/>
          </a:prstGeom>
          <a:noFill/>
          <a:ln/>
        </p:spPr>
        <p:txBody>
          <a:bodyPr wrap="square" lIns="0" tIns="0" rIns="0" bIns="0" rtlCol="0" anchor="t"/>
          <a:lstStyle/>
          <a:p>
            <a:pPr algn="l" indent="0" marL="0">
              <a:buNone/>
            </a:pPr>
            <a:r>
              <a:rPr lang="en-US" sz="1400" b="1" dirty="0">
                <a:solidFill>
                  <a:schemeClr val="bg1"/>
                </a:solidFill>
              </a:rPr>
              <a:t>Critical  (90%)</a:t>
            </a:r>
            <a:endParaRPr lang="en-US" sz="1400" dirty="0"/>
          </a:p>
        </p:txBody>
      </p:sp>
      <p:sp>
        <p:nvSpPr>
          <p:cNvPr id="23" name="Bar track 3"/>
          <p:cNvSpPr/>
          <p:nvPr/>
        </p:nvSpPr>
        <p:spPr>
          <a:xfrm>
            <a:off x="8823960" y="5065776"/>
            <a:ext cx="2496312" cy="237744"/>
          </a:xfrm>
          <a:prstGeom prst="roundRect">
            <a:avLst>
              <a:gd name="adj" fmla="val 23077"/>
            </a:avLst>
          </a:prstGeom>
          <a:solidFill>
            <a:schemeClr val="accent6"/>
          </a:solidFill>
          <a:ln/>
        </p:spPr>
      </p:sp>
      <p:sp>
        <p:nvSpPr>
          <p:cNvPr id="24" name="Bar fill 3"/>
          <p:cNvSpPr/>
          <p:nvPr/>
        </p:nvSpPr>
        <p:spPr>
          <a:xfrm>
            <a:off x="8823960" y="5065776"/>
            <a:ext cx="2371496" cy="237744"/>
          </a:xfrm>
          <a:prstGeom prst="roundRect">
            <a:avLst>
              <a:gd name="adj" fmla="val 23077"/>
            </a:avLst>
          </a:prstGeom>
          <a:solidFill>
            <a:schemeClr val="accent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Introduction and Background</a:t>
            </a:r>
            <a:endParaRPr lang="en-US" sz="3600" dirty="0"/>
          </a:p>
        </p:txBody>
      </p:sp>
      <p:sp>
        <p:nvSpPr>
          <p:cNvPr id="3" name="Icon circle intro 1"/>
          <p:cNvSpPr/>
          <p:nvPr/>
        </p:nvSpPr>
        <p:spPr>
          <a:xfrm>
            <a:off x="548640" y="1737360"/>
            <a:ext cx="640080" cy="640080"/>
          </a:xfrm>
          <a:prstGeom prst="ellipse">
            <a:avLst/>
          </a:prstGeom>
          <a:solidFill>
            <a:schemeClr val="accent1"/>
          </a:solidFill>
          <a:ln/>
        </p:spPr>
      </p:sp>
      <p:pic>
        <p:nvPicPr>
          <p:cNvPr id="4" name="Image 0" descr="Server icon">    </p:cNvPr>
          <p:cNvPicPr>
            <a:picLocks noChangeAspect="1"/>
          </p:cNvPicPr>
          <p:nvPr/>
        </p:nvPicPr>
        <p:blipFill>
          <a:blip r:embed="rId1"/>
          <a:stretch>
            <a:fillRect/>
          </a:stretch>
        </p:blipFill>
        <p:spPr>
          <a:xfrm>
            <a:off x="708660" y="1897380"/>
            <a:ext cx="320040" cy="320040"/>
          </a:xfrm>
          <a:prstGeom prst="rect">
            <a:avLst/>
          </a:prstGeom>
        </p:spPr>
      </p:pic>
      <p:sp>
        <p:nvSpPr>
          <p:cNvPr id="5" name="Text 2"/>
          <p:cNvSpPr txBox="1"/>
          <p:nvPr/>
        </p:nvSpPr>
        <p:spPr>
          <a:xfrm>
            <a:off x="1417320" y="1645920"/>
            <a:ext cx="4480560" cy="868680"/>
          </a:xfrm>
          <a:prstGeom prst="rect">
            <a:avLst/>
          </a:prstGeom>
          <a:noFill/>
          <a:ln/>
        </p:spPr>
        <p:txBody>
          <a:bodyPr wrap="square" lIns="0" tIns="0" rIns="0" bIns="0" rtlCol="0" anchor="t"/>
          <a:lstStyle/>
          <a:p>
            <a:pPr algn="l" indent="0" marL="0">
              <a:spcAft>
                <a:spcPts val="300"/>
              </a:spcAft>
              <a:buNone/>
            </a:pPr>
            <a:r>
              <a:rPr lang="en-US" sz="1800" b="1" dirty="0">
                <a:solidFill>
                  <a:schemeClr val="tx1"/>
                </a:solidFill>
              </a:rPr>
              <a:t>Linux is everywhere</a:t>
            </a:r>
            <a:endParaRPr lang="en-US" sz="1400" dirty="0"/>
          </a:p>
          <a:p>
            <a:pPr algn="l" indent="0" marL="0">
              <a:spcAft>
                <a:spcPts val="300"/>
              </a:spcAft>
              <a:buNone/>
            </a:pPr>
            <a:r>
              <a:rPr lang="en-US" sz="1400" dirty="0">
                <a:solidFill>
                  <a:schemeClr val="accent5"/>
                </a:solidFill>
              </a:rPr>
              <a:t>Servers, development setups, virtual machines and cloud systems all run on Linux.</a:t>
            </a:r>
            <a:endParaRPr lang="en-US" sz="1400" dirty="0"/>
          </a:p>
        </p:txBody>
      </p:sp>
      <p:sp>
        <p:nvSpPr>
          <p:cNvPr id="6" name="Icon circle intro 2"/>
          <p:cNvSpPr/>
          <p:nvPr/>
        </p:nvSpPr>
        <p:spPr>
          <a:xfrm>
            <a:off x="548640" y="2926080"/>
            <a:ext cx="640080" cy="640080"/>
          </a:xfrm>
          <a:prstGeom prst="ellipse">
            <a:avLst/>
          </a:prstGeom>
          <a:solidFill>
            <a:schemeClr val="accent1"/>
          </a:solidFill>
          <a:ln/>
        </p:spPr>
      </p:sp>
      <p:pic>
        <p:nvPicPr>
          <p:cNvPr id="7" name="Image 1" descr="Hdd icon">    </p:cNvPr>
          <p:cNvPicPr>
            <a:picLocks noChangeAspect="1"/>
          </p:cNvPicPr>
          <p:nvPr/>
        </p:nvPicPr>
        <p:blipFill>
          <a:blip r:embed="rId2"/>
          <a:stretch>
            <a:fillRect/>
          </a:stretch>
        </p:blipFill>
        <p:spPr>
          <a:xfrm>
            <a:off x="708660" y="3086100"/>
            <a:ext cx="320040" cy="320040"/>
          </a:xfrm>
          <a:prstGeom prst="rect">
            <a:avLst/>
          </a:prstGeom>
        </p:spPr>
      </p:pic>
      <p:sp>
        <p:nvSpPr>
          <p:cNvPr id="8" name="Text 4"/>
          <p:cNvSpPr txBox="1"/>
          <p:nvPr/>
        </p:nvSpPr>
        <p:spPr>
          <a:xfrm>
            <a:off x="1417320" y="2834640"/>
            <a:ext cx="4480560" cy="868680"/>
          </a:xfrm>
          <a:prstGeom prst="rect">
            <a:avLst/>
          </a:prstGeom>
          <a:noFill/>
          <a:ln/>
        </p:spPr>
        <p:txBody>
          <a:bodyPr wrap="square" lIns="0" tIns="0" rIns="0" bIns="0" rtlCol="0" anchor="t"/>
          <a:lstStyle/>
          <a:p>
            <a:pPr algn="l" indent="0" marL="0">
              <a:spcAft>
                <a:spcPts val="300"/>
              </a:spcAft>
              <a:buNone/>
            </a:pPr>
            <a:r>
              <a:rPr lang="en-US" sz="1800" b="1" dirty="0">
                <a:solidFill>
                  <a:schemeClr val="tx1"/>
                </a:solidFill>
              </a:rPr>
              <a:t>Free space matters</a:t>
            </a:r>
            <a:endParaRPr lang="en-US" sz="1400" dirty="0"/>
          </a:p>
          <a:p>
            <a:pPr algn="l" indent="0" marL="0">
              <a:spcAft>
                <a:spcPts val="300"/>
              </a:spcAft>
              <a:buNone/>
            </a:pPr>
            <a:r>
              <a:rPr lang="en-US" sz="1400" dirty="0">
                <a:solidFill>
                  <a:schemeClr val="accent5"/>
                </a:solidFill>
              </a:rPr>
              <a:t>Filesystems need enough free space so that applications keep working.</a:t>
            </a:r>
            <a:endParaRPr lang="en-US" sz="1400" dirty="0"/>
          </a:p>
        </p:txBody>
      </p:sp>
      <p:sp>
        <p:nvSpPr>
          <p:cNvPr id="9" name="Icon circle intro 3"/>
          <p:cNvSpPr/>
          <p:nvPr/>
        </p:nvSpPr>
        <p:spPr>
          <a:xfrm>
            <a:off x="548640" y="4114800"/>
            <a:ext cx="640080" cy="640080"/>
          </a:xfrm>
          <a:prstGeom prst="ellipse">
            <a:avLst/>
          </a:prstGeom>
          <a:solidFill>
            <a:schemeClr val="accent1"/>
          </a:solidFill>
          <a:ln/>
        </p:spPr>
      </p:sp>
      <p:pic>
        <p:nvPicPr>
          <p:cNvPr id="10" name="Image 2" descr="Desktop icon">    </p:cNvPr>
          <p:cNvPicPr>
            <a:picLocks noChangeAspect="1"/>
          </p:cNvPicPr>
          <p:nvPr/>
        </p:nvPicPr>
        <p:blipFill>
          <a:blip r:embed="rId3"/>
          <a:stretch>
            <a:fillRect/>
          </a:stretch>
        </p:blipFill>
        <p:spPr>
          <a:xfrm>
            <a:off x="708660" y="4274820"/>
            <a:ext cx="320040" cy="320040"/>
          </a:xfrm>
          <a:prstGeom prst="rect">
            <a:avLst/>
          </a:prstGeom>
        </p:spPr>
      </p:pic>
      <p:sp>
        <p:nvSpPr>
          <p:cNvPr id="11" name="Text 6"/>
          <p:cNvSpPr txBox="1"/>
          <p:nvPr/>
        </p:nvSpPr>
        <p:spPr>
          <a:xfrm>
            <a:off x="1417320" y="4023360"/>
            <a:ext cx="4480560" cy="868680"/>
          </a:xfrm>
          <a:prstGeom prst="rect">
            <a:avLst/>
          </a:prstGeom>
          <a:noFill/>
          <a:ln/>
        </p:spPr>
        <p:txBody>
          <a:bodyPr wrap="square" lIns="0" tIns="0" rIns="0" bIns="0" rtlCol="0" anchor="t"/>
          <a:lstStyle/>
          <a:p>
            <a:pPr algn="l" indent="0" marL="0">
              <a:spcAft>
                <a:spcPts val="300"/>
              </a:spcAft>
              <a:buNone/>
            </a:pPr>
            <a:r>
              <a:rPr lang="en-US" sz="1800" b="1" dirty="0">
                <a:solidFill>
                  <a:schemeClr val="tx1"/>
                </a:solidFill>
              </a:rPr>
              <a:t>Our idea</a:t>
            </a:r>
            <a:endParaRPr lang="en-US" sz="1400" dirty="0"/>
          </a:p>
          <a:p>
            <a:pPr algn="l" indent="0" marL="0">
              <a:spcAft>
                <a:spcPts val="300"/>
              </a:spcAft>
              <a:buNone/>
            </a:pPr>
            <a:r>
              <a:rPr lang="en-US" sz="1400" dirty="0">
                <a:solidFill>
                  <a:schemeClr val="accent5"/>
                </a:solidFill>
              </a:rPr>
              <a:t>Put the Linux storage tools behind one simple web dashboard.</a:t>
            </a:r>
            <a:endParaRPr lang="en-US" sz="1400" dirty="0"/>
          </a:p>
        </p:txBody>
      </p:sp>
      <p:sp>
        <p:nvSpPr>
          <p:cNvPr id="12" name="Text 7"/>
          <p:cNvSpPr txBox="1"/>
          <p:nvPr/>
        </p:nvSpPr>
        <p:spPr>
          <a:xfrm>
            <a:off x="6400800" y="1645920"/>
            <a:ext cx="5239512" cy="365760"/>
          </a:xfrm>
          <a:prstGeom prst="rect">
            <a:avLst/>
          </a:prstGeom>
          <a:noFill/>
          <a:ln/>
        </p:spPr>
        <p:txBody>
          <a:bodyPr wrap="square" lIns="0" tIns="0" rIns="0" bIns="0" rtlCol="0" anchor="t"/>
          <a:lstStyle/>
          <a:p>
            <a:pPr algn="l" indent="0" marL="0">
              <a:buNone/>
            </a:pPr>
            <a:r>
              <a:rPr lang="en-US" sz="1800" b="1" dirty="0">
                <a:solidFill>
                  <a:schemeClr val="tx1"/>
                </a:solidFill>
              </a:rPr>
              <a:t>Linux tools used to check storage</a:t>
            </a:r>
            <a:endParaRPr lang="en-US" sz="1800" dirty="0"/>
          </a:p>
        </p:txBody>
      </p:sp>
      <p:sp>
        <p:nvSpPr>
          <p:cNvPr id="13" name="Card command df"/>
          <p:cNvSpPr/>
          <p:nvPr/>
        </p:nvSpPr>
        <p:spPr>
          <a:xfrm>
            <a:off x="6400800" y="2148840"/>
            <a:ext cx="2514600" cy="1280160"/>
          </a:xfrm>
          <a:prstGeom prst="roundRect">
            <a:avLst>
              <a:gd name="adj" fmla="val 8571"/>
            </a:avLst>
          </a:prstGeom>
          <a:solidFill>
            <a:schemeClr val="bg2"/>
          </a:solidFill>
          <a:ln/>
        </p:spPr>
      </p:sp>
      <p:sp>
        <p:nvSpPr>
          <p:cNvPr id="14" name="Text 9"/>
          <p:cNvSpPr txBox="1"/>
          <p:nvPr/>
        </p:nvSpPr>
        <p:spPr>
          <a:xfrm>
            <a:off x="6583680" y="2331720"/>
            <a:ext cx="2148840" cy="411480"/>
          </a:xfrm>
          <a:prstGeom prst="rect">
            <a:avLst/>
          </a:prstGeom>
          <a:noFill/>
          <a:ln/>
        </p:spPr>
        <p:txBody>
          <a:bodyPr wrap="square" lIns="0" tIns="0" rIns="0" bIns="0" rtlCol="0" anchor="t"/>
          <a:lstStyle/>
          <a:p>
            <a:pPr algn="l" indent="0" marL="0">
              <a:buNone/>
            </a:pPr>
            <a:r>
              <a:rPr lang="en-US" sz="2200" b="1" dirty="0">
                <a:solidFill>
                  <a:schemeClr val="accent1"/>
                </a:solidFill>
                <a:latin typeface="Courier New" pitchFamily="34" charset="0"/>
                <a:ea typeface="Courier New" pitchFamily="34" charset="-122"/>
                <a:cs typeface="Courier New" pitchFamily="34" charset="-120"/>
              </a:rPr>
              <a:t>df</a:t>
            </a:r>
            <a:endParaRPr lang="en-US" sz="2200" dirty="0"/>
          </a:p>
        </p:txBody>
      </p:sp>
      <p:sp>
        <p:nvSpPr>
          <p:cNvPr id="15" name="Text 10"/>
          <p:cNvSpPr txBox="1"/>
          <p:nvPr/>
        </p:nvSpPr>
        <p:spPr>
          <a:xfrm>
            <a:off x="6583680" y="2862072"/>
            <a:ext cx="2148840" cy="457200"/>
          </a:xfrm>
          <a:prstGeom prst="rect">
            <a:avLst/>
          </a:prstGeom>
          <a:noFill/>
          <a:ln/>
        </p:spPr>
        <p:txBody>
          <a:bodyPr wrap="square" lIns="0" tIns="0" rIns="0" bIns="0" rtlCol="0" anchor="t"/>
          <a:lstStyle/>
          <a:p>
            <a:pPr algn="l" indent="0" marL="0">
              <a:buNone/>
            </a:pPr>
            <a:r>
              <a:rPr lang="en-US" sz="1400" dirty="0">
                <a:solidFill>
                  <a:schemeClr val="tx1"/>
                </a:solidFill>
              </a:rPr>
              <a:t>Filesystem usage and capacity</a:t>
            </a:r>
            <a:endParaRPr lang="en-US" sz="1400" dirty="0"/>
          </a:p>
        </p:txBody>
      </p:sp>
      <p:sp>
        <p:nvSpPr>
          <p:cNvPr id="16" name="Card command df -i"/>
          <p:cNvSpPr/>
          <p:nvPr/>
        </p:nvSpPr>
        <p:spPr>
          <a:xfrm>
            <a:off x="9125712" y="2148840"/>
            <a:ext cx="2514600" cy="1280160"/>
          </a:xfrm>
          <a:prstGeom prst="roundRect">
            <a:avLst>
              <a:gd name="adj" fmla="val 8571"/>
            </a:avLst>
          </a:prstGeom>
          <a:solidFill>
            <a:schemeClr val="bg2"/>
          </a:solidFill>
          <a:ln/>
        </p:spPr>
      </p:sp>
      <p:sp>
        <p:nvSpPr>
          <p:cNvPr id="17" name="Text 12"/>
          <p:cNvSpPr txBox="1"/>
          <p:nvPr/>
        </p:nvSpPr>
        <p:spPr>
          <a:xfrm>
            <a:off x="9308592" y="2331720"/>
            <a:ext cx="2148840" cy="411480"/>
          </a:xfrm>
          <a:prstGeom prst="rect">
            <a:avLst/>
          </a:prstGeom>
          <a:noFill/>
          <a:ln/>
        </p:spPr>
        <p:txBody>
          <a:bodyPr wrap="square" lIns="0" tIns="0" rIns="0" bIns="0" rtlCol="0" anchor="t"/>
          <a:lstStyle/>
          <a:p>
            <a:pPr algn="l" indent="0" marL="0">
              <a:buNone/>
            </a:pPr>
            <a:r>
              <a:rPr lang="en-US" sz="2200" b="1" dirty="0">
                <a:solidFill>
                  <a:schemeClr val="accent1"/>
                </a:solidFill>
                <a:latin typeface="Courier New" pitchFamily="34" charset="0"/>
                <a:ea typeface="Courier New" pitchFamily="34" charset="-122"/>
                <a:cs typeface="Courier New" pitchFamily="34" charset="-120"/>
              </a:rPr>
              <a:t>df -i</a:t>
            </a:r>
            <a:endParaRPr lang="en-US" sz="2200" dirty="0"/>
          </a:p>
        </p:txBody>
      </p:sp>
      <p:sp>
        <p:nvSpPr>
          <p:cNvPr id="18" name="Text 13"/>
          <p:cNvSpPr txBox="1"/>
          <p:nvPr/>
        </p:nvSpPr>
        <p:spPr>
          <a:xfrm>
            <a:off x="9308592" y="2862072"/>
            <a:ext cx="2148840" cy="457200"/>
          </a:xfrm>
          <a:prstGeom prst="rect">
            <a:avLst/>
          </a:prstGeom>
          <a:noFill/>
          <a:ln/>
        </p:spPr>
        <p:txBody>
          <a:bodyPr wrap="square" lIns="0" tIns="0" rIns="0" bIns="0" rtlCol="0" anchor="t"/>
          <a:lstStyle/>
          <a:p>
            <a:pPr algn="l" indent="0" marL="0">
              <a:buNone/>
            </a:pPr>
            <a:r>
              <a:rPr lang="en-US" sz="1400" dirty="0">
                <a:solidFill>
                  <a:schemeClr val="tx1"/>
                </a:solidFill>
              </a:rPr>
              <a:t>Inode usage</a:t>
            </a:r>
            <a:endParaRPr lang="en-US" sz="1400" dirty="0"/>
          </a:p>
        </p:txBody>
      </p:sp>
      <p:sp>
        <p:nvSpPr>
          <p:cNvPr id="19" name="Card command lsblk"/>
          <p:cNvSpPr/>
          <p:nvPr/>
        </p:nvSpPr>
        <p:spPr>
          <a:xfrm>
            <a:off x="6400800" y="3611880"/>
            <a:ext cx="2514600" cy="1280160"/>
          </a:xfrm>
          <a:prstGeom prst="roundRect">
            <a:avLst>
              <a:gd name="adj" fmla="val 8571"/>
            </a:avLst>
          </a:prstGeom>
          <a:solidFill>
            <a:schemeClr val="bg2"/>
          </a:solidFill>
          <a:ln/>
        </p:spPr>
      </p:sp>
      <p:sp>
        <p:nvSpPr>
          <p:cNvPr id="20" name="Text 15"/>
          <p:cNvSpPr txBox="1"/>
          <p:nvPr/>
        </p:nvSpPr>
        <p:spPr>
          <a:xfrm>
            <a:off x="6583680" y="3794760"/>
            <a:ext cx="2148840" cy="411480"/>
          </a:xfrm>
          <a:prstGeom prst="rect">
            <a:avLst/>
          </a:prstGeom>
          <a:noFill/>
          <a:ln/>
        </p:spPr>
        <p:txBody>
          <a:bodyPr wrap="square" lIns="0" tIns="0" rIns="0" bIns="0" rtlCol="0" anchor="t"/>
          <a:lstStyle/>
          <a:p>
            <a:pPr algn="l" indent="0" marL="0">
              <a:buNone/>
            </a:pPr>
            <a:r>
              <a:rPr lang="en-US" sz="2200" b="1" dirty="0">
                <a:solidFill>
                  <a:schemeClr val="accent1"/>
                </a:solidFill>
                <a:latin typeface="Courier New" pitchFamily="34" charset="0"/>
                <a:ea typeface="Courier New" pitchFamily="34" charset="-122"/>
                <a:cs typeface="Courier New" pitchFamily="34" charset="-120"/>
              </a:rPr>
              <a:t>lsblk</a:t>
            </a:r>
            <a:endParaRPr lang="en-US" sz="2200" dirty="0"/>
          </a:p>
        </p:txBody>
      </p:sp>
      <p:sp>
        <p:nvSpPr>
          <p:cNvPr id="21" name="Text 16"/>
          <p:cNvSpPr txBox="1"/>
          <p:nvPr/>
        </p:nvSpPr>
        <p:spPr>
          <a:xfrm>
            <a:off x="6583680" y="4325112"/>
            <a:ext cx="2148840" cy="457200"/>
          </a:xfrm>
          <a:prstGeom prst="rect">
            <a:avLst/>
          </a:prstGeom>
          <a:noFill/>
          <a:ln/>
        </p:spPr>
        <p:txBody>
          <a:bodyPr wrap="square" lIns="0" tIns="0" rIns="0" bIns="0" rtlCol="0" anchor="t"/>
          <a:lstStyle/>
          <a:p>
            <a:pPr algn="l" indent="0" marL="0">
              <a:buNone/>
            </a:pPr>
            <a:r>
              <a:rPr lang="en-US" sz="1400" dirty="0">
                <a:solidFill>
                  <a:schemeClr val="tx1"/>
                </a:solidFill>
              </a:rPr>
              <a:t>Block devices</a:t>
            </a:r>
            <a:endParaRPr lang="en-US" sz="1400" dirty="0"/>
          </a:p>
        </p:txBody>
      </p:sp>
      <p:sp>
        <p:nvSpPr>
          <p:cNvPr id="22" name="Card command findmnt"/>
          <p:cNvSpPr/>
          <p:nvPr/>
        </p:nvSpPr>
        <p:spPr>
          <a:xfrm>
            <a:off x="9125712" y="3611880"/>
            <a:ext cx="2514600" cy="1280160"/>
          </a:xfrm>
          <a:prstGeom prst="roundRect">
            <a:avLst>
              <a:gd name="adj" fmla="val 8571"/>
            </a:avLst>
          </a:prstGeom>
          <a:solidFill>
            <a:schemeClr val="bg2"/>
          </a:solidFill>
          <a:ln/>
        </p:spPr>
      </p:sp>
      <p:sp>
        <p:nvSpPr>
          <p:cNvPr id="23" name="Text 18"/>
          <p:cNvSpPr txBox="1"/>
          <p:nvPr/>
        </p:nvSpPr>
        <p:spPr>
          <a:xfrm>
            <a:off x="9308592" y="3794760"/>
            <a:ext cx="2148840" cy="411480"/>
          </a:xfrm>
          <a:prstGeom prst="rect">
            <a:avLst/>
          </a:prstGeom>
          <a:noFill/>
          <a:ln/>
        </p:spPr>
        <p:txBody>
          <a:bodyPr wrap="square" lIns="0" tIns="0" rIns="0" bIns="0" rtlCol="0" anchor="t"/>
          <a:lstStyle/>
          <a:p>
            <a:pPr algn="l" indent="0" marL="0">
              <a:buNone/>
            </a:pPr>
            <a:r>
              <a:rPr lang="en-US" sz="2200" b="1" dirty="0">
                <a:solidFill>
                  <a:schemeClr val="accent1"/>
                </a:solidFill>
                <a:latin typeface="Courier New" pitchFamily="34" charset="0"/>
                <a:ea typeface="Courier New" pitchFamily="34" charset="-122"/>
                <a:cs typeface="Courier New" pitchFamily="34" charset="-120"/>
              </a:rPr>
              <a:t>findmnt</a:t>
            </a:r>
            <a:endParaRPr lang="en-US" sz="2200" dirty="0"/>
          </a:p>
        </p:txBody>
      </p:sp>
      <p:sp>
        <p:nvSpPr>
          <p:cNvPr id="24" name="Text 19"/>
          <p:cNvSpPr txBox="1"/>
          <p:nvPr/>
        </p:nvSpPr>
        <p:spPr>
          <a:xfrm>
            <a:off x="9308592" y="4325112"/>
            <a:ext cx="2148840" cy="457200"/>
          </a:xfrm>
          <a:prstGeom prst="rect">
            <a:avLst/>
          </a:prstGeom>
          <a:noFill/>
          <a:ln/>
        </p:spPr>
        <p:txBody>
          <a:bodyPr wrap="square" lIns="0" tIns="0" rIns="0" bIns="0" rtlCol="0" anchor="t"/>
          <a:lstStyle/>
          <a:p>
            <a:pPr algn="l" indent="0" marL="0">
              <a:buNone/>
            </a:pPr>
            <a:r>
              <a:rPr lang="en-US" sz="1400" dirty="0">
                <a:solidFill>
                  <a:schemeClr val="tx1"/>
                </a:solidFill>
              </a:rPr>
              <a:t>Mounted filesystems</a:t>
            </a:r>
            <a:endParaRPr lang="en-US" sz="1400" dirty="0"/>
          </a:p>
        </p:txBody>
      </p:sp>
      <p:sp>
        <p:nvSpPr>
          <p:cNvPr id="25" name="Card banner"/>
          <p:cNvSpPr/>
          <p:nvPr/>
        </p:nvSpPr>
        <p:spPr>
          <a:xfrm>
            <a:off x="548640" y="5257800"/>
            <a:ext cx="11091672" cy="868680"/>
          </a:xfrm>
          <a:prstGeom prst="roundRect">
            <a:avLst>
              <a:gd name="adj" fmla="val 12632"/>
            </a:avLst>
          </a:prstGeom>
          <a:solidFill>
            <a:schemeClr val="accent1"/>
          </a:solidFill>
          <a:ln/>
        </p:spPr>
      </p:sp>
      <p:sp>
        <p:nvSpPr>
          <p:cNvPr id="26" name="Text 21"/>
          <p:cNvSpPr txBox="1"/>
          <p:nvPr/>
        </p:nvSpPr>
        <p:spPr>
          <a:xfrm>
            <a:off x="822960" y="5257800"/>
            <a:ext cx="10515600" cy="868680"/>
          </a:xfrm>
          <a:prstGeom prst="rect">
            <a:avLst/>
          </a:prstGeom>
          <a:noFill/>
          <a:ln/>
        </p:spPr>
        <p:txBody>
          <a:bodyPr wrap="square" lIns="0" tIns="0" rIns="0" bIns="0" rtlCol="0" anchor="ctr"/>
          <a:lstStyle/>
          <a:p>
            <a:pPr algn="l" indent="0" marL="0">
              <a:buNone/>
            </a:pPr>
            <a:r>
              <a:rPr lang="en-US" sz="1800" b="1" dirty="0">
                <a:solidFill>
                  <a:schemeClr val="bg1"/>
                </a:solidFill>
              </a:rPr>
              <a:t>Reading raw terminal output by hand is slow. Our dashboard shows disk space, inodes and alerts in one place.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Problem Statement</a:t>
            </a:r>
            <a:endParaRPr lang="en-US" sz="3600" dirty="0"/>
          </a:p>
        </p:txBody>
      </p:sp>
      <p:sp>
        <p:nvSpPr>
          <p:cNvPr id="3" name="Text 1"/>
          <p:cNvSpPr txBox="1"/>
          <p:nvPr/>
        </p:nvSpPr>
        <p:spPr>
          <a:xfrm>
            <a:off x="548640" y="1143000"/>
            <a:ext cx="11091672" cy="365760"/>
          </a:xfrm>
          <a:prstGeom prst="rect">
            <a:avLst/>
          </a:prstGeom>
          <a:noFill/>
          <a:ln/>
        </p:spPr>
        <p:txBody>
          <a:bodyPr wrap="square" lIns="0" tIns="0" rIns="0" bIns="0" rtlCol="0" anchor="t"/>
          <a:lstStyle/>
          <a:p>
            <a:pPr algn="l" indent="0" marL="0">
              <a:buNone/>
            </a:pPr>
            <a:r>
              <a:rPr lang="en-US" sz="1600" dirty="0">
                <a:solidFill>
                  <a:schemeClr val="accent5"/>
                </a:solidFill>
              </a:rPr>
              <a:t>Administrators must watch disk space and inode availability to avoid storage problems.</a:t>
            </a:r>
            <a:endParaRPr lang="en-US" sz="1600" dirty="0"/>
          </a:p>
        </p:txBody>
      </p:sp>
      <p:sp>
        <p:nvSpPr>
          <p:cNvPr id="4" name="Card problem column 1"/>
          <p:cNvSpPr/>
          <p:nvPr/>
        </p:nvSpPr>
        <p:spPr>
          <a:xfrm>
            <a:off x="548640" y="1783080"/>
            <a:ext cx="5394960" cy="3246120"/>
          </a:xfrm>
          <a:prstGeom prst="roundRect">
            <a:avLst>
              <a:gd name="adj" fmla="val 3380"/>
            </a:avLst>
          </a:prstGeom>
          <a:solidFill>
            <a:schemeClr val="bg2"/>
          </a:solidFill>
          <a:ln/>
        </p:spPr>
      </p:sp>
      <p:sp>
        <p:nvSpPr>
          <p:cNvPr id="5" name="Text 3"/>
          <p:cNvSpPr txBox="1"/>
          <p:nvPr/>
        </p:nvSpPr>
        <p:spPr>
          <a:xfrm>
            <a:off x="868680" y="2011680"/>
            <a:ext cx="4754880" cy="411480"/>
          </a:xfrm>
          <a:prstGeom prst="rect">
            <a:avLst/>
          </a:prstGeom>
          <a:noFill/>
          <a:ln/>
        </p:spPr>
        <p:txBody>
          <a:bodyPr wrap="square" lIns="0" tIns="0" rIns="0" bIns="0" rtlCol="0" anchor="t"/>
          <a:lstStyle/>
          <a:p>
            <a:pPr algn="l" indent="0" marL="0">
              <a:buNone/>
            </a:pPr>
            <a:r>
              <a:rPr lang="en-US" sz="2000" b="1" dirty="0">
                <a:solidFill>
                  <a:schemeClr val="tx1"/>
                </a:solidFill>
              </a:rPr>
              <a:t>When storage gets full</a:t>
            </a:r>
            <a:endParaRPr lang="en-US" sz="2000" dirty="0"/>
          </a:p>
        </p:txBody>
      </p:sp>
      <p:sp>
        <p:nvSpPr>
          <p:cNvPr id="6" name="Icon circle problem 1-1"/>
          <p:cNvSpPr/>
          <p:nvPr/>
        </p:nvSpPr>
        <p:spPr>
          <a:xfrm>
            <a:off x="868680" y="2697480"/>
            <a:ext cx="548640" cy="548640"/>
          </a:xfrm>
          <a:prstGeom prst="ellipse">
            <a:avLst/>
          </a:prstGeom>
          <a:solidFill>
            <a:schemeClr val="accent3"/>
          </a:solidFill>
          <a:ln/>
        </p:spPr>
      </p:sp>
      <p:pic>
        <p:nvPicPr>
          <p:cNvPr id="7" name="Image 0" descr="ExclamationTriangle icon">    </p:cNvPr>
          <p:cNvPicPr>
            <a:picLocks noChangeAspect="1"/>
          </p:cNvPicPr>
          <p:nvPr/>
        </p:nvPicPr>
        <p:blipFill>
          <a:blip r:embed="rId1"/>
          <a:stretch>
            <a:fillRect/>
          </a:stretch>
        </p:blipFill>
        <p:spPr>
          <a:xfrm>
            <a:off x="1005840" y="2834640"/>
            <a:ext cx="274320" cy="274320"/>
          </a:xfrm>
          <a:prstGeom prst="rect">
            <a:avLst/>
          </a:prstGeom>
        </p:spPr>
      </p:pic>
      <p:sp>
        <p:nvSpPr>
          <p:cNvPr id="8" name="Text 5"/>
          <p:cNvSpPr txBox="1"/>
          <p:nvPr/>
        </p:nvSpPr>
        <p:spPr>
          <a:xfrm>
            <a:off x="1645920" y="2697480"/>
            <a:ext cx="4023360" cy="548640"/>
          </a:xfrm>
          <a:prstGeom prst="rect">
            <a:avLst/>
          </a:prstGeom>
          <a:noFill/>
          <a:ln/>
        </p:spPr>
        <p:txBody>
          <a:bodyPr wrap="square" lIns="0" tIns="0" rIns="0" bIns="0" rtlCol="0" anchor="ctr"/>
          <a:lstStyle/>
          <a:p>
            <a:pPr algn="l" indent="0" marL="0">
              <a:buNone/>
            </a:pPr>
            <a:r>
              <a:rPr lang="en-US" sz="1600" dirty="0">
                <a:solidFill>
                  <a:schemeClr val="tx1"/>
                </a:solidFill>
              </a:rPr>
              <a:t>Applications cannot create new files</a:t>
            </a:r>
            <a:endParaRPr lang="en-US" sz="1600" dirty="0"/>
          </a:p>
        </p:txBody>
      </p:sp>
      <p:sp>
        <p:nvSpPr>
          <p:cNvPr id="9" name="Icon circle problem 1-2"/>
          <p:cNvSpPr/>
          <p:nvPr/>
        </p:nvSpPr>
        <p:spPr>
          <a:xfrm>
            <a:off x="868680" y="3447288"/>
            <a:ext cx="548640" cy="548640"/>
          </a:xfrm>
          <a:prstGeom prst="ellipse">
            <a:avLst/>
          </a:prstGeom>
          <a:solidFill>
            <a:schemeClr val="accent3"/>
          </a:solidFill>
          <a:ln/>
        </p:spPr>
      </p:sp>
      <p:pic>
        <p:nvPicPr>
          <p:cNvPr id="10" name="Image 1" descr="FileAlt icon">    </p:cNvPr>
          <p:cNvPicPr>
            <a:picLocks noChangeAspect="1"/>
          </p:cNvPicPr>
          <p:nvPr/>
        </p:nvPicPr>
        <p:blipFill>
          <a:blip r:embed="rId2"/>
          <a:stretch>
            <a:fillRect/>
          </a:stretch>
        </p:blipFill>
        <p:spPr>
          <a:xfrm>
            <a:off x="1005840" y="3584448"/>
            <a:ext cx="274320" cy="274320"/>
          </a:xfrm>
          <a:prstGeom prst="rect">
            <a:avLst/>
          </a:prstGeom>
        </p:spPr>
      </p:pic>
      <p:sp>
        <p:nvSpPr>
          <p:cNvPr id="11" name="Text 7"/>
          <p:cNvSpPr txBox="1"/>
          <p:nvPr/>
        </p:nvSpPr>
        <p:spPr>
          <a:xfrm>
            <a:off x="1645920" y="3447288"/>
            <a:ext cx="4023360" cy="548640"/>
          </a:xfrm>
          <a:prstGeom prst="rect">
            <a:avLst/>
          </a:prstGeom>
          <a:noFill/>
          <a:ln/>
        </p:spPr>
        <p:txBody>
          <a:bodyPr wrap="square" lIns="0" tIns="0" rIns="0" bIns="0" rtlCol="0" anchor="ctr"/>
          <a:lstStyle/>
          <a:p>
            <a:pPr algn="l" indent="0" marL="0">
              <a:buNone/>
            </a:pPr>
            <a:r>
              <a:rPr lang="en-US" sz="1600" dirty="0">
                <a:solidFill>
                  <a:schemeClr val="tx1"/>
                </a:solidFill>
              </a:rPr>
              <a:t>Logs may stop updating</a:t>
            </a:r>
            <a:endParaRPr lang="en-US" sz="1600" dirty="0"/>
          </a:p>
        </p:txBody>
      </p:sp>
      <p:sp>
        <p:nvSpPr>
          <p:cNvPr id="12" name="Icon circle problem 1-3"/>
          <p:cNvSpPr/>
          <p:nvPr/>
        </p:nvSpPr>
        <p:spPr>
          <a:xfrm>
            <a:off x="868680" y="4197096"/>
            <a:ext cx="548640" cy="548640"/>
          </a:xfrm>
          <a:prstGeom prst="ellipse">
            <a:avLst/>
          </a:prstGeom>
          <a:solidFill>
            <a:schemeClr val="accent3"/>
          </a:solidFill>
          <a:ln/>
        </p:spPr>
      </p:sp>
      <p:pic>
        <p:nvPicPr>
          <p:cNvPr id="13" name="Image 2" descr="Server icon">    </p:cNvPr>
          <p:cNvPicPr>
            <a:picLocks noChangeAspect="1"/>
          </p:cNvPicPr>
          <p:nvPr/>
        </p:nvPicPr>
        <p:blipFill>
          <a:blip r:embed="rId3"/>
          <a:stretch>
            <a:fillRect/>
          </a:stretch>
        </p:blipFill>
        <p:spPr>
          <a:xfrm>
            <a:off x="1005840" y="4334256"/>
            <a:ext cx="274320" cy="274320"/>
          </a:xfrm>
          <a:prstGeom prst="rect">
            <a:avLst/>
          </a:prstGeom>
        </p:spPr>
      </p:pic>
      <p:sp>
        <p:nvSpPr>
          <p:cNvPr id="14" name="Text 9"/>
          <p:cNvSpPr txBox="1"/>
          <p:nvPr/>
        </p:nvSpPr>
        <p:spPr>
          <a:xfrm>
            <a:off x="1645920" y="4197096"/>
            <a:ext cx="4023360" cy="548640"/>
          </a:xfrm>
          <a:prstGeom prst="rect">
            <a:avLst/>
          </a:prstGeom>
          <a:noFill/>
          <a:ln/>
        </p:spPr>
        <p:txBody>
          <a:bodyPr wrap="square" lIns="0" tIns="0" rIns="0" bIns="0" rtlCol="0" anchor="ctr"/>
          <a:lstStyle/>
          <a:p>
            <a:pPr algn="l" indent="0" marL="0">
              <a:buNone/>
            </a:pPr>
            <a:r>
              <a:rPr lang="en-US" sz="1600" dirty="0">
                <a:solidFill>
                  <a:schemeClr val="tx1"/>
                </a:solidFill>
              </a:rPr>
              <a:t>System operations can be affected</a:t>
            </a:r>
            <a:endParaRPr lang="en-US" sz="1600" dirty="0"/>
          </a:p>
        </p:txBody>
      </p:sp>
      <p:sp>
        <p:nvSpPr>
          <p:cNvPr id="15" name="Card problem column 2"/>
          <p:cNvSpPr/>
          <p:nvPr/>
        </p:nvSpPr>
        <p:spPr>
          <a:xfrm>
            <a:off x="6245352" y="1783080"/>
            <a:ext cx="5394960" cy="3246120"/>
          </a:xfrm>
          <a:prstGeom prst="roundRect">
            <a:avLst>
              <a:gd name="adj" fmla="val 3380"/>
            </a:avLst>
          </a:prstGeom>
          <a:solidFill>
            <a:schemeClr val="bg2"/>
          </a:solidFill>
          <a:ln/>
        </p:spPr>
      </p:sp>
      <p:sp>
        <p:nvSpPr>
          <p:cNvPr id="16" name="Text 11"/>
          <p:cNvSpPr txBox="1"/>
          <p:nvPr/>
        </p:nvSpPr>
        <p:spPr>
          <a:xfrm>
            <a:off x="6565392" y="2011680"/>
            <a:ext cx="4754880" cy="411480"/>
          </a:xfrm>
          <a:prstGeom prst="rect">
            <a:avLst/>
          </a:prstGeom>
          <a:noFill/>
          <a:ln/>
        </p:spPr>
        <p:txBody>
          <a:bodyPr wrap="square" lIns="0" tIns="0" rIns="0" bIns="0" rtlCol="0" anchor="t"/>
          <a:lstStyle/>
          <a:p>
            <a:pPr algn="l" indent="0" marL="0">
              <a:buNone/>
            </a:pPr>
            <a:r>
              <a:rPr lang="en-US" sz="2000" b="1" dirty="0">
                <a:solidFill>
                  <a:schemeClr val="tx1"/>
                </a:solidFill>
              </a:rPr>
              <a:t>Why the command line is hard</a:t>
            </a:r>
            <a:endParaRPr lang="en-US" sz="2000" dirty="0"/>
          </a:p>
        </p:txBody>
      </p:sp>
      <p:sp>
        <p:nvSpPr>
          <p:cNvPr id="17" name="Icon circle problem 2-1"/>
          <p:cNvSpPr/>
          <p:nvPr/>
        </p:nvSpPr>
        <p:spPr>
          <a:xfrm>
            <a:off x="6565392" y="2697480"/>
            <a:ext cx="548640" cy="548640"/>
          </a:xfrm>
          <a:prstGeom prst="ellipse">
            <a:avLst/>
          </a:prstGeom>
          <a:solidFill>
            <a:schemeClr val="accent4"/>
          </a:solidFill>
          <a:ln/>
        </p:spPr>
      </p:sp>
      <p:pic>
        <p:nvPicPr>
          <p:cNvPr id="18" name="Image 3" descr="Terminal icon">    </p:cNvPr>
          <p:cNvPicPr>
            <a:picLocks noChangeAspect="1"/>
          </p:cNvPicPr>
          <p:nvPr/>
        </p:nvPicPr>
        <p:blipFill>
          <a:blip r:embed="rId4"/>
          <a:stretch>
            <a:fillRect/>
          </a:stretch>
        </p:blipFill>
        <p:spPr>
          <a:xfrm>
            <a:off x="6702552" y="2834640"/>
            <a:ext cx="274320" cy="274320"/>
          </a:xfrm>
          <a:prstGeom prst="rect">
            <a:avLst/>
          </a:prstGeom>
        </p:spPr>
      </p:pic>
      <p:sp>
        <p:nvSpPr>
          <p:cNvPr id="19" name="Text 13"/>
          <p:cNvSpPr txBox="1"/>
          <p:nvPr/>
        </p:nvSpPr>
        <p:spPr>
          <a:xfrm>
            <a:off x="7342632" y="2697480"/>
            <a:ext cx="4023360" cy="548640"/>
          </a:xfrm>
          <a:prstGeom prst="rect">
            <a:avLst/>
          </a:prstGeom>
          <a:noFill/>
          <a:ln/>
        </p:spPr>
        <p:txBody>
          <a:bodyPr wrap="square" lIns="0" tIns="0" rIns="0" bIns="0" rtlCol="0" anchor="ctr"/>
          <a:lstStyle/>
          <a:p>
            <a:pPr algn="l" indent="0" marL="0">
              <a:buNone/>
            </a:pPr>
            <a:r>
              <a:rPr lang="en-US" sz="1600" dirty="0">
                <a:solidFill>
                  <a:schemeClr val="tx1"/>
                </a:solidFill>
              </a:rPr>
              <a:t>Many commands must be run</a:t>
            </a:r>
            <a:endParaRPr lang="en-US" sz="1600" dirty="0"/>
          </a:p>
        </p:txBody>
      </p:sp>
      <p:sp>
        <p:nvSpPr>
          <p:cNvPr id="20" name="Icon circle problem 2-2"/>
          <p:cNvSpPr/>
          <p:nvPr/>
        </p:nvSpPr>
        <p:spPr>
          <a:xfrm>
            <a:off x="6565392" y="3447288"/>
            <a:ext cx="548640" cy="548640"/>
          </a:xfrm>
          <a:prstGeom prst="ellipse">
            <a:avLst/>
          </a:prstGeom>
          <a:solidFill>
            <a:schemeClr val="accent4"/>
          </a:solidFill>
          <a:ln/>
        </p:spPr>
      </p:sp>
      <p:pic>
        <p:nvPicPr>
          <p:cNvPr id="21" name="Image 4" descr="ListUl icon">    </p:cNvPr>
          <p:cNvPicPr>
            <a:picLocks noChangeAspect="1"/>
          </p:cNvPicPr>
          <p:nvPr/>
        </p:nvPicPr>
        <p:blipFill>
          <a:blip r:embed="rId5"/>
          <a:stretch>
            <a:fillRect/>
          </a:stretch>
        </p:blipFill>
        <p:spPr>
          <a:xfrm>
            <a:off x="6702552" y="3584448"/>
            <a:ext cx="274320" cy="274320"/>
          </a:xfrm>
          <a:prstGeom prst="rect">
            <a:avLst/>
          </a:prstGeom>
        </p:spPr>
      </p:pic>
      <p:sp>
        <p:nvSpPr>
          <p:cNvPr id="22" name="Text 15"/>
          <p:cNvSpPr txBox="1"/>
          <p:nvPr/>
        </p:nvSpPr>
        <p:spPr>
          <a:xfrm>
            <a:off x="7342632" y="3447288"/>
            <a:ext cx="4023360" cy="548640"/>
          </a:xfrm>
          <a:prstGeom prst="rect">
            <a:avLst/>
          </a:prstGeom>
          <a:noFill/>
          <a:ln/>
        </p:spPr>
        <p:txBody>
          <a:bodyPr wrap="square" lIns="0" tIns="0" rIns="0" bIns="0" rtlCol="0" anchor="ctr"/>
          <a:lstStyle/>
          <a:p>
            <a:pPr algn="l" indent="0" marL="0">
              <a:buNone/>
            </a:pPr>
            <a:r>
              <a:rPr lang="en-US" sz="1600" dirty="0">
                <a:solidFill>
                  <a:schemeClr val="tx1"/>
                </a:solidFill>
              </a:rPr>
              <a:t>Each output is read separately</a:t>
            </a:r>
            <a:endParaRPr lang="en-US" sz="1600" dirty="0"/>
          </a:p>
        </p:txBody>
      </p:sp>
      <p:sp>
        <p:nvSpPr>
          <p:cNvPr id="23" name="Icon circle problem 2-3"/>
          <p:cNvSpPr/>
          <p:nvPr/>
        </p:nvSpPr>
        <p:spPr>
          <a:xfrm>
            <a:off x="6565392" y="4197096"/>
            <a:ext cx="548640" cy="548640"/>
          </a:xfrm>
          <a:prstGeom prst="ellipse">
            <a:avLst/>
          </a:prstGeom>
          <a:solidFill>
            <a:schemeClr val="accent4"/>
          </a:solidFill>
          <a:ln/>
        </p:spPr>
      </p:sp>
      <p:pic>
        <p:nvPicPr>
          <p:cNvPr id="24" name="Image 5" descr="UserGraduate icon">    </p:cNvPr>
          <p:cNvPicPr>
            <a:picLocks noChangeAspect="1"/>
          </p:cNvPicPr>
          <p:nvPr/>
        </p:nvPicPr>
        <p:blipFill>
          <a:blip r:embed="rId6"/>
          <a:stretch>
            <a:fillRect/>
          </a:stretch>
        </p:blipFill>
        <p:spPr>
          <a:xfrm>
            <a:off x="6702552" y="4334256"/>
            <a:ext cx="274320" cy="274320"/>
          </a:xfrm>
          <a:prstGeom prst="rect">
            <a:avLst/>
          </a:prstGeom>
        </p:spPr>
      </p:pic>
      <p:sp>
        <p:nvSpPr>
          <p:cNvPr id="25" name="Text 17"/>
          <p:cNvSpPr txBox="1"/>
          <p:nvPr/>
        </p:nvSpPr>
        <p:spPr>
          <a:xfrm>
            <a:off x="7342632" y="4197096"/>
            <a:ext cx="4023360" cy="548640"/>
          </a:xfrm>
          <a:prstGeom prst="rect">
            <a:avLst/>
          </a:prstGeom>
          <a:noFill/>
          <a:ln/>
        </p:spPr>
        <p:txBody>
          <a:bodyPr wrap="square" lIns="0" tIns="0" rIns="0" bIns="0" rtlCol="0" anchor="ctr"/>
          <a:lstStyle/>
          <a:p>
            <a:pPr algn="l" indent="0" marL="0">
              <a:buNone/>
            </a:pPr>
            <a:r>
              <a:rPr lang="en-US" sz="1600" dirty="0">
                <a:solidFill>
                  <a:schemeClr val="tx1"/>
                </a:solidFill>
              </a:rPr>
              <a:t>Harder for beginners</a:t>
            </a:r>
            <a:endParaRPr lang="en-US" sz="1600" dirty="0"/>
          </a:p>
        </p:txBody>
      </p:sp>
      <p:sp>
        <p:nvSpPr>
          <p:cNvPr id="26" name="Card need banner"/>
          <p:cNvSpPr/>
          <p:nvPr/>
        </p:nvSpPr>
        <p:spPr>
          <a:xfrm>
            <a:off x="548640" y="5303520"/>
            <a:ext cx="11091672" cy="914400"/>
          </a:xfrm>
          <a:prstGeom prst="roundRect">
            <a:avLst>
              <a:gd name="adj" fmla="val 12000"/>
            </a:avLst>
          </a:prstGeom>
          <a:solidFill>
            <a:schemeClr val="tx2"/>
          </a:solidFill>
          <a:ln/>
        </p:spPr>
      </p:sp>
      <p:sp>
        <p:nvSpPr>
          <p:cNvPr id="27" name="Text 19"/>
          <p:cNvSpPr txBox="1"/>
          <p:nvPr/>
        </p:nvSpPr>
        <p:spPr>
          <a:xfrm>
            <a:off x="822960" y="5303520"/>
            <a:ext cx="10515600" cy="914400"/>
          </a:xfrm>
          <a:prstGeom prst="rect">
            <a:avLst/>
          </a:prstGeom>
          <a:noFill/>
          <a:ln/>
        </p:spPr>
        <p:txBody>
          <a:bodyPr wrap="square" lIns="0" tIns="0" rIns="0" bIns="0" rtlCol="0" anchor="ctr"/>
          <a:lstStyle/>
          <a:p>
            <a:pPr algn="l" indent="0" marL="0">
              <a:buNone/>
            </a:pPr>
            <a:r>
              <a:rPr lang="en-US" sz="1400" b="1" dirty="0">
                <a:solidFill>
                  <a:schemeClr val="accent2"/>
                </a:solidFill>
              </a:rPr>
              <a:t>THE NEED   </a:t>
            </a:r>
            <a:pPr algn="l" indent="0" marL="0">
              <a:buNone/>
            </a:pPr>
            <a:r>
              <a:rPr lang="en-US" sz="1600" dirty="0">
                <a:solidFill>
                  <a:schemeClr val="bg1"/>
                </a:solidFill>
              </a:rPr>
              <a:t>A simple web interface that collects storage data from Linux, shows it clearly, flags threshold violations, and supports reports and log checks.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Objectives and Proposed Solution</a:t>
            </a:r>
            <a:endParaRPr lang="en-US" sz="3600" dirty="0"/>
          </a:p>
        </p:txBody>
      </p:sp>
      <p:sp>
        <p:nvSpPr>
          <p:cNvPr id="3" name="Text 1"/>
          <p:cNvSpPr txBox="1"/>
          <p:nvPr/>
        </p:nvSpPr>
        <p:spPr>
          <a:xfrm>
            <a:off x="548640" y="1143000"/>
            <a:ext cx="11091672" cy="365760"/>
          </a:xfrm>
          <a:prstGeom prst="rect">
            <a:avLst/>
          </a:prstGeom>
          <a:noFill/>
          <a:ln/>
        </p:spPr>
        <p:txBody>
          <a:bodyPr wrap="square" lIns="0" tIns="0" rIns="0" bIns="0" rtlCol="0" anchor="t"/>
          <a:lstStyle/>
          <a:p>
            <a:pPr algn="l" indent="0" marL="0">
              <a:buNone/>
            </a:pPr>
            <a:r>
              <a:rPr lang="en-US" sz="1600" dirty="0">
                <a:solidFill>
                  <a:schemeClr val="accent5"/>
                </a:solidFill>
              </a:rPr>
              <a:t>Solution: a Flask web dashboard that runs approved Linux commands and shows the results clearly.</a:t>
            </a:r>
            <a:endParaRPr lang="en-US" sz="1600" dirty="0"/>
          </a:p>
        </p:txBody>
      </p:sp>
      <p:sp>
        <p:nvSpPr>
          <p:cNvPr id="4" name="Card objective 1"/>
          <p:cNvSpPr/>
          <p:nvPr/>
        </p:nvSpPr>
        <p:spPr>
          <a:xfrm>
            <a:off x="548640" y="1783080"/>
            <a:ext cx="2331720" cy="1280160"/>
          </a:xfrm>
          <a:prstGeom prst="roundRect">
            <a:avLst>
              <a:gd name="adj" fmla="val 8571"/>
            </a:avLst>
          </a:prstGeom>
          <a:solidFill>
            <a:schemeClr val="bg2"/>
          </a:solidFill>
          <a:ln/>
        </p:spPr>
      </p:sp>
      <p:sp>
        <p:nvSpPr>
          <p:cNvPr id="5" name="Number 1"/>
          <p:cNvSpPr/>
          <p:nvPr/>
        </p:nvSpPr>
        <p:spPr>
          <a:xfrm>
            <a:off x="685800" y="1920240"/>
            <a:ext cx="365760" cy="365760"/>
          </a:xfrm>
          <a:prstGeom prst="ellipse">
            <a:avLst/>
          </a:prstGeom>
          <a:solidFill>
            <a:schemeClr val="accent1"/>
          </a:solidFill>
          <a:ln/>
        </p:spPr>
      </p:sp>
      <p:sp>
        <p:nvSpPr>
          <p:cNvPr id="6" name="Text 4"/>
          <p:cNvSpPr txBox="1"/>
          <p:nvPr/>
        </p:nvSpPr>
        <p:spPr>
          <a:xfrm>
            <a:off x="685800" y="1920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685800" y="235000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Build a web dashboard for storage monitoring</a:t>
            </a:r>
            <a:endParaRPr lang="en-US" sz="1400" dirty="0"/>
          </a:p>
        </p:txBody>
      </p:sp>
      <p:sp>
        <p:nvSpPr>
          <p:cNvPr id="8" name="Card objective 2"/>
          <p:cNvSpPr/>
          <p:nvPr/>
        </p:nvSpPr>
        <p:spPr>
          <a:xfrm>
            <a:off x="3044952" y="1783080"/>
            <a:ext cx="2331720" cy="1280160"/>
          </a:xfrm>
          <a:prstGeom prst="roundRect">
            <a:avLst>
              <a:gd name="adj" fmla="val 8571"/>
            </a:avLst>
          </a:prstGeom>
          <a:solidFill>
            <a:schemeClr val="bg2"/>
          </a:solidFill>
          <a:ln/>
        </p:spPr>
      </p:sp>
      <p:sp>
        <p:nvSpPr>
          <p:cNvPr id="9" name="Number 2"/>
          <p:cNvSpPr/>
          <p:nvPr/>
        </p:nvSpPr>
        <p:spPr>
          <a:xfrm>
            <a:off x="3182112" y="1920240"/>
            <a:ext cx="365760" cy="365760"/>
          </a:xfrm>
          <a:prstGeom prst="ellipse">
            <a:avLst/>
          </a:prstGeom>
          <a:solidFill>
            <a:schemeClr val="accent1"/>
          </a:solidFill>
          <a:ln/>
        </p:spPr>
      </p:sp>
      <p:sp>
        <p:nvSpPr>
          <p:cNvPr id="10" name="Text 8"/>
          <p:cNvSpPr txBox="1"/>
          <p:nvPr/>
        </p:nvSpPr>
        <p:spPr>
          <a:xfrm>
            <a:off x="3182112" y="1920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3182112" y="235000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Show capacity, used and free space, and usage %</a:t>
            </a:r>
            <a:endParaRPr lang="en-US" sz="1400" dirty="0"/>
          </a:p>
        </p:txBody>
      </p:sp>
      <p:sp>
        <p:nvSpPr>
          <p:cNvPr id="12" name="Card objective 3"/>
          <p:cNvSpPr/>
          <p:nvPr/>
        </p:nvSpPr>
        <p:spPr>
          <a:xfrm>
            <a:off x="5541264" y="1783080"/>
            <a:ext cx="2331720" cy="1280160"/>
          </a:xfrm>
          <a:prstGeom prst="roundRect">
            <a:avLst>
              <a:gd name="adj" fmla="val 8571"/>
            </a:avLst>
          </a:prstGeom>
          <a:solidFill>
            <a:schemeClr val="bg2"/>
          </a:solidFill>
          <a:ln/>
        </p:spPr>
      </p:sp>
      <p:sp>
        <p:nvSpPr>
          <p:cNvPr id="13" name="Number 3"/>
          <p:cNvSpPr/>
          <p:nvPr/>
        </p:nvSpPr>
        <p:spPr>
          <a:xfrm>
            <a:off x="5678424" y="1920240"/>
            <a:ext cx="365760" cy="365760"/>
          </a:xfrm>
          <a:prstGeom prst="ellipse">
            <a:avLst/>
          </a:prstGeom>
          <a:solidFill>
            <a:schemeClr val="accent1"/>
          </a:solidFill>
          <a:ln/>
        </p:spPr>
      </p:sp>
      <p:sp>
        <p:nvSpPr>
          <p:cNvPr id="14" name="Text 12"/>
          <p:cNvSpPr txBox="1"/>
          <p:nvPr/>
        </p:nvSpPr>
        <p:spPr>
          <a:xfrm>
            <a:off x="5678424" y="19202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5678424" y="235000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Watch inode usage and spot high use</a:t>
            </a:r>
            <a:endParaRPr lang="en-US" sz="1400" dirty="0"/>
          </a:p>
        </p:txBody>
      </p:sp>
      <p:sp>
        <p:nvSpPr>
          <p:cNvPr id="16" name="Card objective 4"/>
          <p:cNvSpPr/>
          <p:nvPr/>
        </p:nvSpPr>
        <p:spPr>
          <a:xfrm>
            <a:off x="548640" y="3246120"/>
            <a:ext cx="2331720" cy="1280160"/>
          </a:xfrm>
          <a:prstGeom prst="roundRect">
            <a:avLst>
              <a:gd name="adj" fmla="val 8571"/>
            </a:avLst>
          </a:prstGeom>
          <a:solidFill>
            <a:schemeClr val="bg2"/>
          </a:solidFill>
          <a:ln/>
        </p:spPr>
      </p:sp>
      <p:sp>
        <p:nvSpPr>
          <p:cNvPr id="17" name="Number 4"/>
          <p:cNvSpPr/>
          <p:nvPr/>
        </p:nvSpPr>
        <p:spPr>
          <a:xfrm>
            <a:off x="685800" y="3383280"/>
            <a:ext cx="365760" cy="365760"/>
          </a:xfrm>
          <a:prstGeom prst="ellipse">
            <a:avLst/>
          </a:prstGeom>
          <a:solidFill>
            <a:schemeClr val="accent1"/>
          </a:solidFill>
          <a:ln/>
        </p:spPr>
      </p:sp>
      <p:sp>
        <p:nvSpPr>
          <p:cNvPr id="18" name="Text 16"/>
          <p:cNvSpPr txBox="1"/>
          <p:nvPr/>
        </p:nvSpPr>
        <p:spPr>
          <a:xfrm>
            <a:off x="685800" y="3383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7"/>
          <p:cNvSpPr txBox="1"/>
          <p:nvPr/>
        </p:nvSpPr>
        <p:spPr>
          <a:xfrm>
            <a:off x="685800" y="381304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Connect Linux storage commands to the web page</a:t>
            </a:r>
            <a:endParaRPr lang="en-US" sz="1400" dirty="0"/>
          </a:p>
        </p:txBody>
      </p:sp>
      <p:sp>
        <p:nvSpPr>
          <p:cNvPr id="20" name="Card objective 5"/>
          <p:cNvSpPr/>
          <p:nvPr/>
        </p:nvSpPr>
        <p:spPr>
          <a:xfrm>
            <a:off x="3044952" y="3246120"/>
            <a:ext cx="2331720" cy="1280160"/>
          </a:xfrm>
          <a:prstGeom prst="roundRect">
            <a:avLst>
              <a:gd name="adj" fmla="val 8571"/>
            </a:avLst>
          </a:prstGeom>
          <a:solidFill>
            <a:schemeClr val="bg2"/>
          </a:solidFill>
          <a:ln/>
        </p:spPr>
      </p:sp>
      <p:sp>
        <p:nvSpPr>
          <p:cNvPr id="21" name="Number 5"/>
          <p:cNvSpPr/>
          <p:nvPr/>
        </p:nvSpPr>
        <p:spPr>
          <a:xfrm>
            <a:off x="3182112" y="3383280"/>
            <a:ext cx="365760" cy="365760"/>
          </a:xfrm>
          <a:prstGeom prst="ellipse">
            <a:avLst/>
          </a:prstGeom>
          <a:solidFill>
            <a:schemeClr val="accent1"/>
          </a:solidFill>
          <a:ln/>
        </p:spPr>
      </p:sp>
      <p:sp>
        <p:nvSpPr>
          <p:cNvPr id="22" name="Text 20"/>
          <p:cNvSpPr txBox="1"/>
          <p:nvPr/>
        </p:nvSpPr>
        <p:spPr>
          <a:xfrm>
            <a:off x="3182112" y="3383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1"/>
          <p:cNvSpPr txBox="1"/>
          <p:nvPr/>
        </p:nvSpPr>
        <p:spPr>
          <a:xfrm>
            <a:off x="3182112" y="381304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Set warning and critical thresholds</a:t>
            </a:r>
            <a:endParaRPr lang="en-US" sz="1400" dirty="0"/>
          </a:p>
        </p:txBody>
      </p:sp>
      <p:sp>
        <p:nvSpPr>
          <p:cNvPr id="24" name="Card objective 6"/>
          <p:cNvSpPr/>
          <p:nvPr/>
        </p:nvSpPr>
        <p:spPr>
          <a:xfrm>
            <a:off x="5541264" y="3246120"/>
            <a:ext cx="2331720" cy="1280160"/>
          </a:xfrm>
          <a:prstGeom prst="roundRect">
            <a:avLst>
              <a:gd name="adj" fmla="val 8571"/>
            </a:avLst>
          </a:prstGeom>
          <a:solidFill>
            <a:schemeClr val="bg2"/>
          </a:solidFill>
          <a:ln/>
        </p:spPr>
      </p:sp>
      <p:sp>
        <p:nvSpPr>
          <p:cNvPr id="25" name="Number 6"/>
          <p:cNvSpPr/>
          <p:nvPr/>
        </p:nvSpPr>
        <p:spPr>
          <a:xfrm>
            <a:off x="5678424" y="3383280"/>
            <a:ext cx="365760" cy="365760"/>
          </a:xfrm>
          <a:prstGeom prst="ellipse">
            <a:avLst/>
          </a:prstGeom>
          <a:solidFill>
            <a:schemeClr val="accent1"/>
          </a:solidFill>
          <a:ln/>
        </p:spPr>
      </p:sp>
      <p:sp>
        <p:nvSpPr>
          <p:cNvPr id="26" name="Text 24"/>
          <p:cNvSpPr txBox="1"/>
          <p:nvPr/>
        </p:nvSpPr>
        <p:spPr>
          <a:xfrm>
            <a:off x="5678424" y="3383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Text 25"/>
          <p:cNvSpPr txBox="1"/>
          <p:nvPr/>
        </p:nvSpPr>
        <p:spPr>
          <a:xfrm>
            <a:off x="5678424" y="381304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Simulate alerts without changing the disk</a:t>
            </a:r>
            <a:endParaRPr lang="en-US" sz="1400" dirty="0"/>
          </a:p>
        </p:txBody>
      </p:sp>
      <p:sp>
        <p:nvSpPr>
          <p:cNvPr id="28" name="Card objective 7"/>
          <p:cNvSpPr/>
          <p:nvPr/>
        </p:nvSpPr>
        <p:spPr>
          <a:xfrm>
            <a:off x="548640" y="4709160"/>
            <a:ext cx="2331720" cy="1280160"/>
          </a:xfrm>
          <a:prstGeom prst="roundRect">
            <a:avLst>
              <a:gd name="adj" fmla="val 8571"/>
            </a:avLst>
          </a:prstGeom>
          <a:solidFill>
            <a:schemeClr val="bg2"/>
          </a:solidFill>
          <a:ln/>
        </p:spPr>
      </p:sp>
      <p:sp>
        <p:nvSpPr>
          <p:cNvPr id="29" name="Number 7"/>
          <p:cNvSpPr/>
          <p:nvPr/>
        </p:nvSpPr>
        <p:spPr>
          <a:xfrm>
            <a:off x="685800" y="4846320"/>
            <a:ext cx="365760" cy="365760"/>
          </a:xfrm>
          <a:prstGeom prst="ellipse">
            <a:avLst/>
          </a:prstGeom>
          <a:solidFill>
            <a:schemeClr val="accent1"/>
          </a:solidFill>
          <a:ln/>
        </p:spPr>
      </p:sp>
      <p:sp>
        <p:nvSpPr>
          <p:cNvPr id="30" name="Text 28"/>
          <p:cNvSpPr txBox="1"/>
          <p:nvPr/>
        </p:nvSpPr>
        <p:spPr>
          <a:xfrm>
            <a:off x="685800" y="4846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1" name="Text 29"/>
          <p:cNvSpPr txBox="1"/>
          <p:nvPr/>
        </p:nvSpPr>
        <p:spPr>
          <a:xfrm>
            <a:off x="685800" y="527608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Record activity in log files</a:t>
            </a:r>
            <a:endParaRPr lang="en-US" sz="1400" dirty="0"/>
          </a:p>
        </p:txBody>
      </p:sp>
      <p:sp>
        <p:nvSpPr>
          <p:cNvPr id="32" name="Card objective 8"/>
          <p:cNvSpPr/>
          <p:nvPr/>
        </p:nvSpPr>
        <p:spPr>
          <a:xfrm>
            <a:off x="3044952" y="4709160"/>
            <a:ext cx="2331720" cy="1280160"/>
          </a:xfrm>
          <a:prstGeom prst="roundRect">
            <a:avLst>
              <a:gd name="adj" fmla="val 8571"/>
            </a:avLst>
          </a:prstGeom>
          <a:solidFill>
            <a:schemeClr val="bg2"/>
          </a:solidFill>
          <a:ln/>
        </p:spPr>
      </p:sp>
      <p:sp>
        <p:nvSpPr>
          <p:cNvPr id="33" name="Number 8"/>
          <p:cNvSpPr/>
          <p:nvPr/>
        </p:nvSpPr>
        <p:spPr>
          <a:xfrm>
            <a:off x="3182112" y="4846320"/>
            <a:ext cx="365760" cy="365760"/>
          </a:xfrm>
          <a:prstGeom prst="ellipse">
            <a:avLst/>
          </a:prstGeom>
          <a:solidFill>
            <a:schemeClr val="accent1"/>
          </a:solidFill>
          <a:ln/>
        </p:spPr>
      </p:sp>
      <p:sp>
        <p:nvSpPr>
          <p:cNvPr id="34" name="Text 32"/>
          <p:cNvSpPr txBox="1"/>
          <p:nvPr/>
        </p:nvSpPr>
        <p:spPr>
          <a:xfrm>
            <a:off x="3182112" y="4846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35" name="Text 33"/>
          <p:cNvSpPr txBox="1"/>
          <p:nvPr/>
        </p:nvSpPr>
        <p:spPr>
          <a:xfrm>
            <a:off x="3182112" y="527608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Create downloadable storage reports</a:t>
            </a:r>
            <a:endParaRPr lang="en-US" sz="1400" dirty="0"/>
          </a:p>
        </p:txBody>
      </p:sp>
      <p:sp>
        <p:nvSpPr>
          <p:cNvPr id="36" name="Card objective 9"/>
          <p:cNvSpPr/>
          <p:nvPr/>
        </p:nvSpPr>
        <p:spPr>
          <a:xfrm>
            <a:off x="5541264" y="4709160"/>
            <a:ext cx="2331720" cy="1280160"/>
          </a:xfrm>
          <a:prstGeom prst="roundRect">
            <a:avLst>
              <a:gd name="adj" fmla="val 8571"/>
            </a:avLst>
          </a:prstGeom>
          <a:solidFill>
            <a:schemeClr val="bg2"/>
          </a:solidFill>
          <a:ln/>
        </p:spPr>
      </p:sp>
      <p:sp>
        <p:nvSpPr>
          <p:cNvPr id="37" name="Number 9"/>
          <p:cNvSpPr/>
          <p:nvPr/>
        </p:nvSpPr>
        <p:spPr>
          <a:xfrm>
            <a:off x="5678424" y="4846320"/>
            <a:ext cx="365760" cy="365760"/>
          </a:xfrm>
          <a:prstGeom prst="ellipse">
            <a:avLst/>
          </a:prstGeom>
          <a:solidFill>
            <a:schemeClr val="accent1"/>
          </a:solidFill>
          <a:ln/>
        </p:spPr>
      </p:sp>
      <p:sp>
        <p:nvSpPr>
          <p:cNvPr id="38" name="Text 36"/>
          <p:cNvSpPr txBox="1"/>
          <p:nvPr/>
        </p:nvSpPr>
        <p:spPr>
          <a:xfrm>
            <a:off x="5678424" y="4846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9" name="Text 37"/>
          <p:cNvSpPr txBox="1"/>
          <p:nvPr/>
        </p:nvSpPr>
        <p:spPr>
          <a:xfrm>
            <a:off x="5678424" y="5276088"/>
            <a:ext cx="2057400" cy="640080"/>
          </a:xfrm>
          <a:prstGeom prst="rect">
            <a:avLst/>
          </a:prstGeom>
          <a:noFill/>
          <a:ln/>
        </p:spPr>
        <p:txBody>
          <a:bodyPr wrap="square" lIns="0" tIns="0" rIns="0" bIns="0" rtlCol="0" anchor="t"/>
          <a:lstStyle/>
          <a:p>
            <a:pPr algn="l" indent="0" marL="0">
              <a:buNone/>
            </a:pPr>
            <a:r>
              <a:rPr lang="en-US" sz="1400" dirty="0">
                <a:solidFill>
                  <a:schemeClr val="tx1"/>
                </a:solidFill>
              </a:rPr>
              <a:t>Show Linux commands and Python web development</a:t>
            </a:r>
            <a:endParaRPr lang="en-US" sz="1400" dirty="0"/>
          </a:p>
        </p:txBody>
      </p:sp>
      <p:sp>
        <p:nvSpPr>
          <p:cNvPr id="40" name="Card scope panel"/>
          <p:cNvSpPr/>
          <p:nvPr/>
        </p:nvSpPr>
        <p:spPr>
          <a:xfrm>
            <a:off x="8138160" y="1783080"/>
            <a:ext cx="3502152" cy="4206240"/>
          </a:xfrm>
          <a:prstGeom prst="roundRect">
            <a:avLst>
              <a:gd name="adj" fmla="val 3133"/>
            </a:avLst>
          </a:prstGeom>
          <a:solidFill>
            <a:schemeClr val="tx2"/>
          </a:solidFill>
          <a:ln/>
        </p:spPr>
      </p:sp>
      <p:sp>
        <p:nvSpPr>
          <p:cNvPr id="41" name="Text 39"/>
          <p:cNvSpPr txBox="1"/>
          <p:nvPr/>
        </p:nvSpPr>
        <p:spPr>
          <a:xfrm>
            <a:off x="8412480" y="1965960"/>
            <a:ext cx="3017520" cy="365760"/>
          </a:xfrm>
          <a:prstGeom prst="rect">
            <a:avLst/>
          </a:prstGeom>
          <a:noFill/>
          <a:ln/>
        </p:spPr>
        <p:txBody>
          <a:bodyPr wrap="square" lIns="0" tIns="0" rIns="0" bIns="0" rtlCol="0" anchor="t"/>
          <a:lstStyle/>
          <a:p>
            <a:pPr algn="l" indent="0" marL="0">
              <a:buNone/>
            </a:pPr>
            <a:r>
              <a:rPr lang="en-US" sz="1800" b="1" dirty="0">
                <a:solidFill>
                  <a:schemeClr val="accent2"/>
                </a:solidFill>
              </a:rPr>
              <a:t>Scope</a:t>
            </a:r>
            <a:endParaRPr lang="en-US" sz="1800" dirty="0"/>
          </a:p>
        </p:txBody>
      </p:sp>
      <p:sp>
        <p:nvSpPr>
          <p:cNvPr id="42" name="Text 40"/>
          <p:cNvSpPr txBox="1"/>
          <p:nvPr/>
        </p:nvSpPr>
        <p:spPr>
          <a:xfrm>
            <a:off x="8412480" y="2377440"/>
            <a:ext cx="3017520" cy="137160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1"/>
                </a:solidFill>
              </a:rPr>
              <a:t>Monitors existing filesystems on the Linux system it runs on</a:t>
            </a:r>
            <a:endParaRPr lang="en-US" sz="1400" dirty="0"/>
          </a:p>
          <a:p>
            <a:pPr algn="l" marL="342900" indent="-342900">
              <a:spcAft>
                <a:spcPts val="600"/>
              </a:spcAft>
              <a:buSzPct val="100000"/>
              <a:buChar char="•"/>
            </a:pPr>
            <a:r>
              <a:rPr lang="en-US" sz="1400" dirty="0">
                <a:solidFill>
                  <a:schemeClr val="bg1"/>
                </a:solidFill>
              </a:rPr>
              <a:t>For local, educational and demo use</a:t>
            </a:r>
            <a:endParaRPr lang="en-US" sz="1400" dirty="0"/>
          </a:p>
        </p:txBody>
      </p:sp>
      <p:sp>
        <p:nvSpPr>
          <p:cNvPr id="43" name="Text 41"/>
          <p:cNvSpPr txBox="1"/>
          <p:nvPr/>
        </p:nvSpPr>
        <p:spPr>
          <a:xfrm>
            <a:off x="8412480" y="3840480"/>
            <a:ext cx="3017520" cy="365760"/>
          </a:xfrm>
          <a:prstGeom prst="rect">
            <a:avLst/>
          </a:prstGeom>
          <a:noFill/>
          <a:ln/>
        </p:spPr>
        <p:txBody>
          <a:bodyPr wrap="square" lIns="0" tIns="0" rIns="0" bIns="0" rtlCol="0" anchor="t"/>
          <a:lstStyle/>
          <a:p>
            <a:pPr algn="l" indent="0" marL="0">
              <a:buNone/>
            </a:pPr>
            <a:r>
              <a:rPr lang="en-US" sz="1800" b="1" dirty="0">
                <a:solidFill>
                  <a:schemeClr val="accent2"/>
                </a:solidFill>
              </a:rPr>
              <a:t>Not included yet</a:t>
            </a:r>
            <a:endParaRPr lang="en-US" sz="1800" dirty="0"/>
          </a:p>
        </p:txBody>
      </p:sp>
      <p:sp>
        <p:nvSpPr>
          <p:cNvPr id="44" name="Text 42"/>
          <p:cNvSpPr txBox="1"/>
          <p:nvPr/>
        </p:nvSpPr>
        <p:spPr>
          <a:xfrm>
            <a:off x="8412480" y="4251960"/>
            <a:ext cx="3017520" cy="155448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chemeClr val="bg1"/>
                </a:solidFill>
              </a:rPr>
              <a:t>Automatic disk cleanup</a:t>
            </a:r>
            <a:endParaRPr lang="en-US" sz="1400" dirty="0"/>
          </a:p>
          <a:p>
            <a:pPr algn="l" marL="342900" indent="-342900">
              <a:spcAft>
                <a:spcPts val="400"/>
              </a:spcAft>
              <a:buSzPct val="100000"/>
              <a:buChar char="•"/>
            </a:pPr>
            <a:r>
              <a:rPr lang="en-US" sz="1400" dirty="0">
                <a:solidFill>
                  <a:schemeClr val="bg1"/>
                </a:solidFill>
              </a:rPr>
              <a:t>Partition creation</a:t>
            </a:r>
            <a:endParaRPr lang="en-US" sz="1400" dirty="0"/>
          </a:p>
          <a:p>
            <a:pPr algn="l" marL="342900" indent="-342900">
              <a:spcAft>
                <a:spcPts val="400"/>
              </a:spcAft>
              <a:buSzPct val="100000"/>
              <a:buChar char="•"/>
            </a:pPr>
            <a:r>
              <a:rPr lang="en-US" sz="1400" dirty="0">
                <a:solidFill>
                  <a:schemeClr val="bg1"/>
                </a:solidFill>
              </a:rPr>
              <a:t>Filesystem resizing</a:t>
            </a:r>
            <a:endParaRPr lang="en-US" sz="1400" dirty="0"/>
          </a:p>
          <a:p>
            <a:pPr algn="l" marL="342900" indent="-342900">
              <a:spcAft>
                <a:spcPts val="400"/>
              </a:spcAft>
              <a:buSzPct val="100000"/>
              <a:buChar char="•"/>
            </a:pPr>
            <a:r>
              <a:rPr lang="en-US" sz="1400" dirty="0">
                <a:solidFill>
                  <a:schemeClr val="bg1"/>
                </a:solidFill>
              </a:rPr>
              <a:t>Scheduled monitoring</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System Design and Methodology</a:t>
            </a:r>
            <a:endParaRPr lang="en-US" sz="3600" dirty="0"/>
          </a:p>
        </p:txBody>
      </p:sp>
      <p:sp>
        <p:nvSpPr>
          <p:cNvPr id="3" name="VM container"/>
          <p:cNvSpPr/>
          <p:nvPr/>
        </p:nvSpPr>
        <p:spPr>
          <a:xfrm>
            <a:off x="548640" y="1371600"/>
            <a:ext cx="7223760" cy="4251960"/>
          </a:xfrm>
          <a:prstGeom prst="roundRect">
            <a:avLst>
              <a:gd name="adj" fmla="val 2581"/>
            </a:avLst>
          </a:prstGeom>
          <a:solidFill>
            <a:schemeClr val="bg1"/>
          </a:solidFill>
          <a:ln w="15875">
            <a:solidFill>
              <a:schemeClr val="accent5"/>
            </a:solidFill>
            <a:prstDash val="dash"/>
          </a:ln>
        </p:spPr>
      </p:sp>
      <p:sp>
        <p:nvSpPr>
          <p:cNvPr id="4" name="Text 2"/>
          <p:cNvSpPr txBox="1"/>
          <p:nvPr/>
        </p:nvSpPr>
        <p:spPr>
          <a:xfrm>
            <a:off x="777240" y="1463040"/>
            <a:ext cx="6766560" cy="274320"/>
          </a:xfrm>
          <a:prstGeom prst="rect">
            <a:avLst/>
          </a:prstGeom>
          <a:noFill/>
          <a:ln/>
        </p:spPr>
        <p:txBody>
          <a:bodyPr wrap="square" lIns="0" tIns="0" rIns="0" bIns="0" rtlCol="0" anchor="t"/>
          <a:lstStyle/>
          <a:p>
            <a:pPr algn="l" indent="0" marL="0">
              <a:buNone/>
            </a:pPr>
            <a:r>
              <a:rPr lang="en-US" sz="1200" b="1" dirty="0">
                <a:solidFill>
                  <a:schemeClr val="accent5"/>
                </a:solidFill>
              </a:rPr>
              <a:t>Kali Linux VM  |  Oracle VirtualBox on a Windows host</a:t>
            </a:r>
            <a:endParaRPr lang="en-US" sz="1200" dirty="0"/>
          </a:p>
        </p:txBody>
      </p:sp>
      <p:sp>
        <p:nvSpPr>
          <p:cNvPr id="5" name="Card architecture Browser"/>
          <p:cNvSpPr/>
          <p:nvPr/>
        </p:nvSpPr>
        <p:spPr>
          <a:xfrm>
            <a:off x="777240" y="1920240"/>
            <a:ext cx="1920240" cy="1645920"/>
          </a:xfrm>
          <a:prstGeom prst="roundRect">
            <a:avLst>
              <a:gd name="adj" fmla="val 6667"/>
            </a:avLst>
          </a:prstGeom>
          <a:solidFill>
            <a:schemeClr val="tx2"/>
          </a:solidFill>
          <a:ln/>
        </p:spPr>
      </p:sp>
      <p:sp>
        <p:nvSpPr>
          <p:cNvPr id="6" name="Icon circle arch 1"/>
          <p:cNvSpPr/>
          <p:nvPr/>
        </p:nvSpPr>
        <p:spPr>
          <a:xfrm>
            <a:off x="1508760" y="2011680"/>
            <a:ext cx="457200" cy="457200"/>
          </a:xfrm>
          <a:prstGeom prst="ellipse">
            <a:avLst/>
          </a:prstGeom>
          <a:solidFill>
            <a:schemeClr val="accent1"/>
          </a:solidFill>
          <a:ln/>
        </p:spPr>
      </p:sp>
      <p:pic>
        <p:nvPicPr>
          <p:cNvPr id="7" name="Image 0" descr="Globe icon">    </p:cNvPr>
          <p:cNvPicPr>
            <a:picLocks noChangeAspect="1"/>
          </p:cNvPicPr>
          <p:nvPr/>
        </p:nvPicPr>
        <p:blipFill>
          <a:blip r:embed="rId1"/>
          <a:stretch>
            <a:fillRect/>
          </a:stretch>
        </p:blipFill>
        <p:spPr>
          <a:xfrm>
            <a:off x="1623060" y="2125980"/>
            <a:ext cx="228600" cy="228600"/>
          </a:xfrm>
          <a:prstGeom prst="rect">
            <a:avLst/>
          </a:prstGeom>
        </p:spPr>
      </p:pic>
      <p:sp>
        <p:nvSpPr>
          <p:cNvPr id="8" name="Text 5"/>
          <p:cNvSpPr txBox="1"/>
          <p:nvPr/>
        </p:nvSpPr>
        <p:spPr>
          <a:xfrm>
            <a:off x="868680" y="2542032"/>
            <a:ext cx="1737360" cy="274320"/>
          </a:xfrm>
          <a:prstGeom prst="rect">
            <a:avLst/>
          </a:prstGeom>
          <a:noFill/>
          <a:ln/>
        </p:spPr>
        <p:txBody>
          <a:bodyPr wrap="square" lIns="0" tIns="0" rIns="0" bIns="0" rtlCol="0" anchor="t"/>
          <a:lstStyle/>
          <a:p>
            <a:pPr algn="ctr" indent="0" marL="0">
              <a:buNone/>
            </a:pPr>
            <a:r>
              <a:rPr lang="en-US" sz="1600" b="1" dirty="0">
                <a:solidFill>
                  <a:schemeClr val="bg1"/>
                </a:solidFill>
              </a:rPr>
              <a:t>Browser</a:t>
            </a:r>
            <a:endParaRPr lang="en-US" sz="1600" dirty="0"/>
          </a:p>
        </p:txBody>
      </p:sp>
      <p:sp>
        <p:nvSpPr>
          <p:cNvPr id="9" name="Text 6"/>
          <p:cNvSpPr txBox="1"/>
          <p:nvPr/>
        </p:nvSpPr>
        <p:spPr>
          <a:xfrm>
            <a:off x="868680" y="2834640"/>
            <a:ext cx="1737360" cy="685800"/>
          </a:xfrm>
          <a:prstGeom prst="rect">
            <a:avLst/>
          </a:prstGeom>
          <a:noFill/>
          <a:ln/>
        </p:spPr>
        <p:txBody>
          <a:bodyPr wrap="square" lIns="0" tIns="0" rIns="0" bIns="0" rtlCol="0" anchor="t"/>
          <a:lstStyle/>
          <a:p>
            <a:pPr algn="ctr" indent="0" marL="0">
              <a:buNone/>
            </a:pPr>
            <a:r>
              <a:rPr lang="en-US" sz="1300" dirty="0">
                <a:solidFill>
                  <a:schemeClr val="bg2"/>
                </a:solidFill>
              </a:rPr>
              <a:t>HTML, CSS, JavaScript dashboard</a:t>
            </a:r>
            <a:endParaRPr lang="en-US" sz="1300" dirty="0"/>
          </a:p>
        </p:txBody>
      </p:sp>
      <p:sp>
        <p:nvSpPr>
          <p:cNvPr id="10" name="Card architecture Flask backend"/>
          <p:cNvSpPr/>
          <p:nvPr/>
        </p:nvSpPr>
        <p:spPr>
          <a:xfrm>
            <a:off x="3154680" y="1920240"/>
            <a:ext cx="1920240" cy="1645920"/>
          </a:xfrm>
          <a:prstGeom prst="roundRect">
            <a:avLst>
              <a:gd name="adj" fmla="val 6667"/>
            </a:avLst>
          </a:prstGeom>
          <a:solidFill>
            <a:schemeClr val="tx2"/>
          </a:solidFill>
          <a:ln/>
        </p:spPr>
      </p:sp>
      <p:sp>
        <p:nvSpPr>
          <p:cNvPr id="11" name="Icon circle arch 2"/>
          <p:cNvSpPr/>
          <p:nvPr/>
        </p:nvSpPr>
        <p:spPr>
          <a:xfrm>
            <a:off x="3886200" y="2011680"/>
            <a:ext cx="457200" cy="457200"/>
          </a:xfrm>
          <a:prstGeom prst="ellipse">
            <a:avLst/>
          </a:prstGeom>
          <a:solidFill>
            <a:schemeClr val="accent1"/>
          </a:solidFill>
          <a:ln/>
        </p:spPr>
      </p:sp>
      <p:pic>
        <p:nvPicPr>
          <p:cNvPr id="12" name="Image 1" descr="Cogs icon">    </p:cNvPr>
          <p:cNvPicPr>
            <a:picLocks noChangeAspect="1"/>
          </p:cNvPicPr>
          <p:nvPr/>
        </p:nvPicPr>
        <p:blipFill>
          <a:blip r:embed="rId2"/>
          <a:stretch>
            <a:fillRect/>
          </a:stretch>
        </p:blipFill>
        <p:spPr>
          <a:xfrm>
            <a:off x="4000500" y="2125980"/>
            <a:ext cx="228600" cy="228600"/>
          </a:xfrm>
          <a:prstGeom prst="rect">
            <a:avLst/>
          </a:prstGeom>
        </p:spPr>
      </p:pic>
      <p:sp>
        <p:nvSpPr>
          <p:cNvPr id="13" name="Text 9"/>
          <p:cNvSpPr txBox="1"/>
          <p:nvPr/>
        </p:nvSpPr>
        <p:spPr>
          <a:xfrm>
            <a:off x="3246120" y="2542032"/>
            <a:ext cx="1737360" cy="274320"/>
          </a:xfrm>
          <a:prstGeom prst="rect">
            <a:avLst/>
          </a:prstGeom>
          <a:noFill/>
          <a:ln/>
        </p:spPr>
        <p:txBody>
          <a:bodyPr wrap="square" lIns="0" tIns="0" rIns="0" bIns="0" rtlCol="0" anchor="t"/>
          <a:lstStyle/>
          <a:p>
            <a:pPr algn="ctr" indent="0" marL="0">
              <a:buNone/>
            </a:pPr>
            <a:r>
              <a:rPr lang="en-US" sz="1600" b="1" dirty="0">
                <a:solidFill>
                  <a:schemeClr val="bg1"/>
                </a:solidFill>
              </a:rPr>
              <a:t>Flask backend</a:t>
            </a:r>
            <a:endParaRPr lang="en-US" sz="1600" dirty="0"/>
          </a:p>
        </p:txBody>
      </p:sp>
      <p:sp>
        <p:nvSpPr>
          <p:cNvPr id="14" name="Text 10"/>
          <p:cNvSpPr txBox="1"/>
          <p:nvPr/>
        </p:nvSpPr>
        <p:spPr>
          <a:xfrm>
            <a:off x="3246120" y="2834640"/>
            <a:ext cx="1737360" cy="685800"/>
          </a:xfrm>
          <a:prstGeom prst="rect">
            <a:avLst/>
          </a:prstGeom>
          <a:noFill/>
          <a:ln/>
        </p:spPr>
        <p:txBody>
          <a:bodyPr wrap="square" lIns="0" tIns="0" rIns="0" bIns="0" rtlCol="0" anchor="t"/>
          <a:lstStyle/>
          <a:p>
            <a:pPr algn="ctr" indent="0" marL="0">
              <a:buNone/>
            </a:pPr>
            <a:r>
              <a:rPr lang="en-US" sz="1300" dirty="0">
                <a:solidFill>
                  <a:schemeClr val="bg2"/>
                </a:solidFill>
              </a:rPr>
              <a:t>Python 3 runs approved commands, returns JSON</a:t>
            </a:r>
            <a:endParaRPr lang="en-US" sz="1300" dirty="0"/>
          </a:p>
        </p:txBody>
      </p:sp>
      <p:sp>
        <p:nvSpPr>
          <p:cNvPr id="15" name="Card architecture Linux tools"/>
          <p:cNvSpPr/>
          <p:nvPr/>
        </p:nvSpPr>
        <p:spPr>
          <a:xfrm>
            <a:off x="5532120" y="1920240"/>
            <a:ext cx="1920240" cy="1645920"/>
          </a:xfrm>
          <a:prstGeom prst="roundRect">
            <a:avLst>
              <a:gd name="adj" fmla="val 6667"/>
            </a:avLst>
          </a:prstGeom>
          <a:solidFill>
            <a:schemeClr val="tx2"/>
          </a:solidFill>
          <a:ln/>
        </p:spPr>
      </p:sp>
      <p:sp>
        <p:nvSpPr>
          <p:cNvPr id="16" name="Icon circle arch 3"/>
          <p:cNvSpPr/>
          <p:nvPr/>
        </p:nvSpPr>
        <p:spPr>
          <a:xfrm>
            <a:off x="6263640" y="2011680"/>
            <a:ext cx="457200" cy="457200"/>
          </a:xfrm>
          <a:prstGeom prst="ellipse">
            <a:avLst/>
          </a:prstGeom>
          <a:solidFill>
            <a:schemeClr val="accent1"/>
          </a:solidFill>
          <a:ln/>
        </p:spPr>
      </p:sp>
      <p:pic>
        <p:nvPicPr>
          <p:cNvPr id="17" name="Image 2" descr="Terminal icon">    </p:cNvPr>
          <p:cNvPicPr>
            <a:picLocks noChangeAspect="1"/>
          </p:cNvPicPr>
          <p:nvPr/>
        </p:nvPicPr>
        <p:blipFill>
          <a:blip r:embed="rId3"/>
          <a:stretch>
            <a:fillRect/>
          </a:stretch>
        </p:blipFill>
        <p:spPr>
          <a:xfrm>
            <a:off x="6377940" y="2125980"/>
            <a:ext cx="228600" cy="228600"/>
          </a:xfrm>
          <a:prstGeom prst="rect">
            <a:avLst/>
          </a:prstGeom>
        </p:spPr>
      </p:pic>
      <p:sp>
        <p:nvSpPr>
          <p:cNvPr id="18" name="Text 13"/>
          <p:cNvSpPr txBox="1"/>
          <p:nvPr/>
        </p:nvSpPr>
        <p:spPr>
          <a:xfrm>
            <a:off x="5623560" y="2542032"/>
            <a:ext cx="1737360" cy="274320"/>
          </a:xfrm>
          <a:prstGeom prst="rect">
            <a:avLst/>
          </a:prstGeom>
          <a:noFill/>
          <a:ln/>
        </p:spPr>
        <p:txBody>
          <a:bodyPr wrap="square" lIns="0" tIns="0" rIns="0" bIns="0" rtlCol="0" anchor="t"/>
          <a:lstStyle/>
          <a:p>
            <a:pPr algn="ctr" indent="0" marL="0">
              <a:buNone/>
            </a:pPr>
            <a:r>
              <a:rPr lang="en-US" sz="1600" b="1" dirty="0">
                <a:solidFill>
                  <a:schemeClr val="bg1"/>
                </a:solidFill>
              </a:rPr>
              <a:t>Linux tools</a:t>
            </a:r>
            <a:endParaRPr lang="en-US" sz="1600" dirty="0"/>
          </a:p>
        </p:txBody>
      </p:sp>
      <p:sp>
        <p:nvSpPr>
          <p:cNvPr id="19" name="Text 14"/>
          <p:cNvSpPr txBox="1"/>
          <p:nvPr/>
        </p:nvSpPr>
        <p:spPr>
          <a:xfrm>
            <a:off x="5623560" y="2834640"/>
            <a:ext cx="1737360" cy="685800"/>
          </a:xfrm>
          <a:prstGeom prst="rect">
            <a:avLst/>
          </a:prstGeom>
          <a:noFill/>
          <a:ln/>
        </p:spPr>
        <p:txBody>
          <a:bodyPr wrap="square" lIns="0" tIns="0" rIns="0" bIns="0" rtlCol="0" anchor="t"/>
          <a:lstStyle/>
          <a:p>
            <a:pPr algn="ctr" indent="0" marL="0">
              <a:buNone/>
            </a:pPr>
            <a:r>
              <a:rPr lang="en-US" sz="1300" dirty="0">
                <a:solidFill>
                  <a:schemeClr val="bg2"/>
                </a:solidFill>
              </a:rPr>
              <a:t>df, df -i, lsblk, findmnt</a:t>
            </a:r>
            <a:endParaRPr lang="en-US" sz="1300" dirty="0"/>
          </a:p>
        </p:txBody>
      </p:sp>
      <p:sp>
        <p:nvSpPr>
          <p:cNvPr id="20" name="Arrow 1"/>
          <p:cNvSpPr/>
          <p:nvPr/>
        </p:nvSpPr>
        <p:spPr>
          <a:xfrm>
            <a:off x="2724912" y="2633472"/>
            <a:ext cx="402336" cy="310896"/>
          </a:xfrm>
          <a:prstGeom prst="leftRightArrow">
            <a:avLst/>
          </a:prstGeom>
          <a:solidFill>
            <a:schemeClr val="accent1"/>
          </a:solidFill>
          <a:ln/>
        </p:spPr>
      </p:sp>
      <p:sp>
        <p:nvSpPr>
          <p:cNvPr id="21" name="Arrow 2"/>
          <p:cNvSpPr/>
          <p:nvPr/>
        </p:nvSpPr>
        <p:spPr>
          <a:xfrm>
            <a:off x="5102352" y="2633472"/>
            <a:ext cx="402336" cy="310896"/>
          </a:xfrm>
          <a:prstGeom prst="leftRightArrow">
            <a:avLst/>
          </a:prstGeom>
          <a:solidFill>
            <a:schemeClr val="accent1"/>
          </a:solidFill>
          <a:ln/>
        </p:spPr>
      </p:sp>
      <p:sp>
        <p:nvSpPr>
          <p:cNvPr id="22" name="Link stem"/>
          <p:cNvSpPr/>
          <p:nvPr/>
        </p:nvSpPr>
        <p:spPr>
          <a:xfrm>
            <a:off x="4114800" y="3566160"/>
            <a:ext cx="0" cy="274320"/>
          </a:xfrm>
          <a:prstGeom prst="line">
            <a:avLst/>
          </a:prstGeom>
          <a:noFill/>
          <a:ln w="19050">
            <a:solidFill>
              <a:schemeClr val="accent5"/>
            </a:solidFill>
            <a:prstDash val="solid"/>
          </a:ln>
        </p:spPr>
      </p:sp>
      <p:sp>
        <p:nvSpPr>
          <p:cNvPr id="23" name="Link bar"/>
          <p:cNvSpPr/>
          <p:nvPr/>
        </p:nvSpPr>
        <p:spPr>
          <a:xfrm>
            <a:off x="1737360" y="3840480"/>
            <a:ext cx="4754880" cy="0"/>
          </a:xfrm>
          <a:prstGeom prst="line">
            <a:avLst/>
          </a:prstGeom>
          <a:noFill/>
          <a:ln w="19050">
            <a:solidFill>
              <a:schemeClr val="accent5"/>
            </a:solidFill>
            <a:prstDash val="solid"/>
          </a:ln>
        </p:spPr>
      </p:sp>
      <p:sp>
        <p:nvSpPr>
          <p:cNvPr id="24" name="Link drop 1"/>
          <p:cNvSpPr/>
          <p:nvPr/>
        </p:nvSpPr>
        <p:spPr>
          <a:xfrm>
            <a:off x="1737360" y="3840480"/>
            <a:ext cx="0" cy="320040"/>
          </a:xfrm>
          <a:prstGeom prst="line">
            <a:avLst/>
          </a:prstGeom>
          <a:noFill/>
          <a:ln w="19050">
            <a:solidFill>
              <a:schemeClr val="accent5"/>
            </a:solidFill>
            <a:prstDash val="solid"/>
          </a:ln>
        </p:spPr>
      </p:sp>
      <p:sp>
        <p:nvSpPr>
          <p:cNvPr id="25" name="Link drop 2"/>
          <p:cNvSpPr/>
          <p:nvPr/>
        </p:nvSpPr>
        <p:spPr>
          <a:xfrm>
            <a:off x="4114800" y="3840480"/>
            <a:ext cx="0" cy="320040"/>
          </a:xfrm>
          <a:prstGeom prst="line">
            <a:avLst/>
          </a:prstGeom>
          <a:noFill/>
          <a:ln w="19050">
            <a:solidFill>
              <a:schemeClr val="accent5"/>
            </a:solidFill>
            <a:prstDash val="solid"/>
          </a:ln>
        </p:spPr>
      </p:sp>
      <p:sp>
        <p:nvSpPr>
          <p:cNvPr id="26" name="Link drop 3"/>
          <p:cNvSpPr/>
          <p:nvPr/>
        </p:nvSpPr>
        <p:spPr>
          <a:xfrm>
            <a:off x="6492240" y="3840480"/>
            <a:ext cx="0" cy="320040"/>
          </a:xfrm>
          <a:prstGeom prst="line">
            <a:avLst/>
          </a:prstGeom>
          <a:noFill/>
          <a:ln w="19050">
            <a:solidFill>
              <a:schemeClr val="accent5"/>
            </a:solidFill>
            <a:prstDash val="solid"/>
          </a:ln>
        </p:spPr>
      </p:sp>
      <p:sp>
        <p:nvSpPr>
          <p:cNvPr id="27" name="Card store config.json"/>
          <p:cNvSpPr/>
          <p:nvPr/>
        </p:nvSpPr>
        <p:spPr>
          <a:xfrm>
            <a:off x="777240" y="4160520"/>
            <a:ext cx="1920240" cy="1188720"/>
          </a:xfrm>
          <a:prstGeom prst="roundRect">
            <a:avLst>
              <a:gd name="adj" fmla="val 9231"/>
            </a:avLst>
          </a:prstGeom>
          <a:solidFill>
            <a:schemeClr val="bg2"/>
          </a:solidFill>
          <a:ln/>
        </p:spPr>
      </p:sp>
      <p:sp>
        <p:nvSpPr>
          <p:cNvPr id="28" name="Text 23"/>
          <p:cNvSpPr txBox="1"/>
          <p:nvPr/>
        </p:nvSpPr>
        <p:spPr>
          <a:xfrm>
            <a:off x="868680" y="434340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rPr>
              <a:t>config.json</a:t>
            </a:r>
            <a:endParaRPr lang="en-US" sz="1600" dirty="0"/>
          </a:p>
        </p:txBody>
      </p:sp>
      <p:sp>
        <p:nvSpPr>
          <p:cNvPr id="29" name="Text 24"/>
          <p:cNvSpPr txBox="1"/>
          <p:nvPr/>
        </p:nvSpPr>
        <p:spPr>
          <a:xfrm>
            <a:off x="868680" y="4754880"/>
            <a:ext cx="1737360" cy="320040"/>
          </a:xfrm>
          <a:prstGeom prst="rect">
            <a:avLst/>
          </a:prstGeom>
          <a:noFill/>
          <a:ln/>
        </p:spPr>
        <p:txBody>
          <a:bodyPr wrap="square" lIns="0" tIns="0" rIns="0" bIns="0" rtlCol="0" anchor="t"/>
          <a:lstStyle/>
          <a:p>
            <a:pPr algn="ctr" indent="0" marL="0">
              <a:buNone/>
            </a:pPr>
            <a:r>
              <a:rPr lang="en-US" sz="1400" dirty="0">
                <a:solidFill>
                  <a:schemeClr val="accent5"/>
                </a:solidFill>
              </a:rPr>
              <a:t>Thresholds</a:t>
            </a:r>
            <a:endParaRPr lang="en-US" sz="1400" dirty="0"/>
          </a:p>
        </p:txBody>
      </p:sp>
      <p:sp>
        <p:nvSpPr>
          <p:cNvPr id="30" name="Card store Log file"/>
          <p:cNvSpPr/>
          <p:nvPr/>
        </p:nvSpPr>
        <p:spPr>
          <a:xfrm>
            <a:off x="3154680" y="4160520"/>
            <a:ext cx="1920240" cy="1188720"/>
          </a:xfrm>
          <a:prstGeom prst="roundRect">
            <a:avLst>
              <a:gd name="adj" fmla="val 9231"/>
            </a:avLst>
          </a:prstGeom>
          <a:solidFill>
            <a:schemeClr val="bg2"/>
          </a:solidFill>
          <a:ln/>
        </p:spPr>
      </p:sp>
      <p:sp>
        <p:nvSpPr>
          <p:cNvPr id="31" name="Text 26"/>
          <p:cNvSpPr txBox="1"/>
          <p:nvPr/>
        </p:nvSpPr>
        <p:spPr>
          <a:xfrm>
            <a:off x="3246120" y="434340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rPr>
              <a:t>Log file</a:t>
            </a:r>
            <a:endParaRPr lang="en-US" sz="1600" dirty="0"/>
          </a:p>
        </p:txBody>
      </p:sp>
      <p:sp>
        <p:nvSpPr>
          <p:cNvPr id="32" name="Text 27"/>
          <p:cNvSpPr txBox="1"/>
          <p:nvPr/>
        </p:nvSpPr>
        <p:spPr>
          <a:xfrm>
            <a:off x="3246120" y="4754880"/>
            <a:ext cx="1737360" cy="320040"/>
          </a:xfrm>
          <a:prstGeom prst="rect">
            <a:avLst/>
          </a:prstGeom>
          <a:noFill/>
          <a:ln/>
        </p:spPr>
        <p:txBody>
          <a:bodyPr wrap="square" lIns="0" tIns="0" rIns="0" bIns="0" rtlCol="0" anchor="t"/>
          <a:lstStyle/>
          <a:p>
            <a:pPr algn="ctr" indent="0" marL="0">
              <a:buNone/>
            </a:pPr>
            <a:r>
              <a:rPr lang="en-US" sz="1400" dirty="0">
                <a:solidFill>
                  <a:schemeClr val="accent5"/>
                </a:solidFill>
              </a:rPr>
              <a:t>App activity</a:t>
            </a:r>
            <a:endParaRPr lang="en-US" sz="1400" dirty="0"/>
          </a:p>
        </p:txBody>
      </p:sp>
      <p:sp>
        <p:nvSpPr>
          <p:cNvPr id="33" name="Card store Report files"/>
          <p:cNvSpPr/>
          <p:nvPr/>
        </p:nvSpPr>
        <p:spPr>
          <a:xfrm>
            <a:off x="5532120" y="4160520"/>
            <a:ext cx="1920240" cy="1188720"/>
          </a:xfrm>
          <a:prstGeom prst="roundRect">
            <a:avLst>
              <a:gd name="adj" fmla="val 9231"/>
            </a:avLst>
          </a:prstGeom>
          <a:solidFill>
            <a:schemeClr val="bg2"/>
          </a:solidFill>
          <a:ln/>
        </p:spPr>
      </p:sp>
      <p:sp>
        <p:nvSpPr>
          <p:cNvPr id="34" name="Text 29"/>
          <p:cNvSpPr txBox="1"/>
          <p:nvPr/>
        </p:nvSpPr>
        <p:spPr>
          <a:xfrm>
            <a:off x="5623560" y="4343400"/>
            <a:ext cx="1737360" cy="320040"/>
          </a:xfrm>
          <a:prstGeom prst="rect">
            <a:avLst/>
          </a:prstGeom>
          <a:noFill/>
          <a:ln/>
        </p:spPr>
        <p:txBody>
          <a:bodyPr wrap="square" lIns="0" tIns="0" rIns="0" bIns="0" rtlCol="0" anchor="t"/>
          <a:lstStyle/>
          <a:p>
            <a:pPr algn="ctr" indent="0" marL="0">
              <a:buNone/>
            </a:pPr>
            <a:r>
              <a:rPr lang="en-US" sz="1600" b="1" dirty="0">
                <a:solidFill>
                  <a:schemeClr val="tx1"/>
                </a:solidFill>
              </a:rPr>
              <a:t>Report files</a:t>
            </a:r>
            <a:endParaRPr lang="en-US" sz="1600" dirty="0"/>
          </a:p>
        </p:txBody>
      </p:sp>
      <p:sp>
        <p:nvSpPr>
          <p:cNvPr id="35" name="Text 30"/>
          <p:cNvSpPr txBox="1"/>
          <p:nvPr/>
        </p:nvSpPr>
        <p:spPr>
          <a:xfrm>
            <a:off x="5623560" y="4754880"/>
            <a:ext cx="1737360" cy="320040"/>
          </a:xfrm>
          <a:prstGeom prst="rect">
            <a:avLst/>
          </a:prstGeom>
          <a:noFill/>
          <a:ln/>
        </p:spPr>
        <p:txBody>
          <a:bodyPr wrap="square" lIns="0" tIns="0" rIns="0" bIns="0" rtlCol="0" anchor="t"/>
          <a:lstStyle/>
          <a:p>
            <a:pPr algn="ctr" indent="0" marL="0">
              <a:buNone/>
            </a:pPr>
            <a:r>
              <a:rPr lang="en-US" sz="1400" dirty="0">
                <a:solidFill>
                  <a:schemeClr val="accent5"/>
                </a:solidFill>
              </a:rPr>
              <a:t>Text reports</a:t>
            </a:r>
            <a:endParaRPr lang="en-US" sz="1400" dirty="0"/>
          </a:p>
        </p:txBody>
      </p:sp>
      <p:sp>
        <p:nvSpPr>
          <p:cNvPr id="36" name="Text 31"/>
          <p:cNvSpPr txBox="1"/>
          <p:nvPr/>
        </p:nvSpPr>
        <p:spPr>
          <a:xfrm>
            <a:off x="8138160" y="1371600"/>
            <a:ext cx="3502152" cy="365760"/>
          </a:xfrm>
          <a:prstGeom prst="rect">
            <a:avLst/>
          </a:prstGeom>
          <a:noFill/>
          <a:ln/>
        </p:spPr>
        <p:txBody>
          <a:bodyPr wrap="square" lIns="0" tIns="0" rIns="0" bIns="0" rtlCol="0" anchor="t"/>
          <a:lstStyle/>
          <a:p>
            <a:pPr algn="l" indent="0" marL="0">
              <a:buNone/>
            </a:pPr>
            <a:r>
              <a:rPr lang="en-US" sz="1800" b="1" dirty="0">
                <a:solidFill>
                  <a:schemeClr val="tx1"/>
                </a:solidFill>
              </a:rPr>
              <a:t>Development process</a:t>
            </a:r>
            <a:endParaRPr lang="en-US" sz="1800" dirty="0"/>
          </a:p>
        </p:txBody>
      </p:sp>
      <p:sp>
        <p:nvSpPr>
          <p:cNvPr id="37" name="Step circle 1"/>
          <p:cNvSpPr/>
          <p:nvPr/>
        </p:nvSpPr>
        <p:spPr>
          <a:xfrm>
            <a:off x="8138160" y="1828800"/>
            <a:ext cx="384048" cy="384048"/>
          </a:xfrm>
          <a:prstGeom prst="ellipse">
            <a:avLst/>
          </a:prstGeom>
          <a:solidFill>
            <a:schemeClr val="accent1"/>
          </a:solidFill>
          <a:ln/>
        </p:spPr>
      </p:sp>
      <p:sp>
        <p:nvSpPr>
          <p:cNvPr id="38" name="Text 33"/>
          <p:cNvSpPr txBox="1"/>
          <p:nvPr/>
        </p:nvSpPr>
        <p:spPr>
          <a:xfrm>
            <a:off x="813816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9" name="Text 34"/>
          <p:cNvSpPr txBox="1"/>
          <p:nvPr/>
        </p:nvSpPr>
        <p:spPr>
          <a:xfrm>
            <a:off x="8686800" y="182880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Requirement analysis</a:t>
            </a:r>
            <a:endParaRPr lang="en-US" sz="1600" dirty="0"/>
          </a:p>
        </p:txBody>
      </p:sp>
      <p:sp>
        <p:nvSpPr>
          <p:cNvPr id="40" name="Step circle 2"/>
          <p:cNvSpPr/>
          <p:nvPr/>
        </p:nvSpPr>
        <p:spPr>
          <a:xfrm>
            <a:off x="8138160" y="2377440"/>
            <a:ext cx="384048" cy="384048"/>
          </a:xfrm>
          <a:prstGeom prst="ellipse">
            <a:avLst/>
          </a:prstGeom>
          <a:solidFill>
            <a:schemeClr val="accent1"/>
          </a:solidFill>
          <a:ln/>
        </p:spPr>
      </p:sp>
      <p:sp>
        <p:nvSpPr>
          <p:cNvPr id="41" name="Text 36"/>
          <p:cNvSpPr txBox="1"/>
          <p:nvPr/>
        </p:nvSpPr>
        <p:spPr>
          <a:xfrm>
            <a:off x="8138160" y="23774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2" name="Text 37"/>
          <p:cNvSpPr txBox="1"/>
          <p:nvPr/>
        </p:nvSpPr>
        <p:spPr>
          <a:xfrm>
            <a:off x="8686800" y="237744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Environment setup</a:t>
            </a:r>
            <a:endParaRPr lang="en-US" sz="1600" dirty="0"/>
          </a:p>
        </p:txBody>
      </p:sp>
      <p:sp>
        <p:nvSpPr>
          <p:cNvPr id="43" name="Step circle 3"/>
          <p:cNvSpPr/>
          <p:nvPr/>
        </p:nvSpPr>
        <p:spPr>
          <a:xfrm>
            <a:off x="8138160" y="2926080"/>
            <a:ext cx="384048" cy="384048"/>
          </a:xfrm>
          <a:prstGeom prst="ellipse">
            <a:avLst/>
          </a:prstGeom>
          <a:solidFill>
            <a:schemeClr val="accent1"/>
          </a:solidFill>
          <a:ln/>
        </p:spPr>
      </p:sp>
      <p:sp>
        <p:nvSpPr>
          <p:cNvPr id="44" name="Text 39"/>
          <p:cNvSpPr txBox="1"/>
          <p:nvPr/>
        </p:nvSpPr>
        <p:spPr>
          <a:xfrm>
            <a:off x="8138160" y="2926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5" name="Text 40"/>
          <p:cNvSpPr txBox="1"/>
          <p:nvPr/>
        </p:nvSpPr>
        <p:spPr>
          <a:xfrm>
            <a:off x="8686800" y="292608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Backend development</a:t>
            </a:r>
            <a:endParaRPr lang="en-US" sz="1600" dirty="0"/>
          </a:p>
        </p:txBody>
      </p:sp>
      <p:sp>
        <p:nvSpPr>
          <p:cNvPr id="46" name="Step circle 4"/>
          <p:cNvSpPr/>
          <p:nvPr/>
        </p:nvSpPr>
        <p:spPr>
          <a:xfrm>
            <a:off x="8138160" y="3474720"/>
            <a:ext cx="384048" cy="384048"/>
          </a:xfrm>
          <a:prstGeom prst="ellipse">
            <a:avLst/>
          </a:prstGeom>
          <a:solidFill>
            <a:schemeClr val="accent1"/>
          </a:solidFill>
          <a:ln/>
        </p:spPr>
      </p:sp>
      <p:sp>
        <p:nvSpPr>
          <p:cNvPr id="47" name="Text 42"/>
          <p:cNvSpPr txBox="1"/>
          <p:nvPr/>
        </p:nvSpPr>
        <p:spPr>
          <a:xfrm>
            <a:off x="8138160" y="3474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8" name="Text 43"/>
          <p:cNvSpPr txBox="1"/>
          <p:nvPr/>
        </p:nvSpPr>
        <p:spPr>
          <a:xfrm>
            <a:off x="8686800" y="347472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Frontend development</a:t>
            </a:r>
            <a:endParaRPr lang="en-US" sz="1600" dirty="0"/>
          </a:p>
        </p:txBody>
      </p:sp>
      <p:sp>
        <p:nvSpPr>
          <p:cNvPr id="49" name="Step circle 5"/>
          <p:cNvSpPr/>
          <p:nvPr/>
        </p:nvSpPr>
        <p:spPr>
          <a:xfrm>
            <a:off x="8138160" y="4023360"/>
            <a:ext cx="384048" cy="384048"/>
          </a:xfrm>
          <a:prstGeom prst="ellipse">
            <a:avLst/>
          </a:prstGeom>
          <a:solidFill>
            <a:schemeClr val="accent1"/>
          </a:solidFill>
          <a:ln/>
        </p:spPr>
      </p:sp>
      <p:sp>
        <p:nvSpPr>
          <p:cNvPr id="50" name="Text 45"/>
          <p:cNvSpPr txBox="1"/>
          <p:nvPr/>
        </p:nvSpPr>
        <p:spPr>
          <a:xfrm>
            <a:off x="8138160"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51" name="Text 46"/>
          <p:cNvSpPr txBox="1"/>
          <p:nvPr/>
        </p:nvSpPr>
        <p:spPr>
          <a:xfrm>
            <a:off x="8686800" y="402336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Integration</a:t>
            </a:r>
            <a:endParaRPr lang="en-US" sz="1600" dirty="0"/>
          </a:p>
        </p:txBody>
      </p:sp>
      <p:sp>
        <p:nvSpPr>
          <p:cNvPr id="52" name="Step circle 6"/>
          <p:cNvSpPr/>
          <p:nvPr/>
        </p:nvSpPr>
        <p:spPr>
          <a:xfrm>
            <a:off x="8138160" y="4572000"/>
            <a:ext cx="384048" cy="384048"/>
          </a:xfrm>
          <a:prstGeom prst="ellipse">
            <a:avLst/>
          </a:prstGeom>
          <a:solidFill>
            <a:schemeClr val="accent1"/>
          </a:solidFill>
          <a:ln/>
        </p:spPr>
      </p:sp>
      <p:sp>
        <p:nvSpPr>
          <p:cNvPr id="53" name="Text 48"/>
          <p:cNvSpPr txBox="1"/>
          <p:nvPr/>
        </p:nvSpPr>
        <p:spPr>
          <a:xfrm>
            <a:off x="8138160" y="4572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54" name="Text 49"/>
          <p:cNvSpPr txBox="1"/>
          <p:nvPr/>
        </p:nvSpPr>
        <p:spPr>
          <a:xfrm>
            <a:off x="8686800" y="457200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Testing</a:t>
            </a:r>
            <a:endParaRPr lang="en-US" sz="1600" dirty="0"/>
          </a:p>
        </p:txBody>
      </p:sp>
      <p:sp>
        <p:nvSpPr>
          <p:cNvPr id="55" name="Step circle 7"/>
          <p:cNvSpPr/>
          <p:nvPr/>
        </p:nvSpPr>
        <p:spPr>
          <a:xfrm>
            <a:off x="8138160" y="5120640"/>
            <a:ext cx="384048" cy="384048"/>
          </a:xfrm>
          <a:prstGeom prst="ellipse">
            <a:avLst/>
          </a:prstGeom>
          <a:solidFill>
            <a:schemeClr val="accent1"/>
          </a:solidFill>
          <a:ln/>
        </p:spPr>
      </p:sp>
      <p:sp>
        <p:nvSpPr>
          <p:cNvPr id="56" name="Text 51"/>
          <p:cNvSpPr txBox="1"/>
          <p:nvPr/>
        </p:nvSpPr>
        <p:spPr>
          <a:xfrm>
            <a:off x="8138160" y="5120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57" name="Text 52"/>
          <p:cNvSpPr txBox="1"/>
          <p:nvPr/>
        </p:nvSpPr>
        <p:spPr>
          <a:xfrm>
            <a:off x="8686800" y="5120640"/>
            <a:ext cx="2926080" cy="384048"/>
          </a:xfrm>
          <a:prstGeom prst="rect">
            <a:avLst/>
          </a:prstGeom>
          <a:noFill/>
          <a:ln/>
        </p:spPr>
        <p:txBody>
          <a:bodyPr wrap="square" lIns="0" tIns="0" rIns="0" bIns="0" rtlCol="0" anchor="ctr"/>
          <a:lstStyle/>
          <a:p>
            <a:pPr algn="l" indent="0" marL="0">
              <a:buNone/>
            </a:pPr>
            <a:r>
              <a:rPr lang="en-US" sz="1600" dirty="0">
                <a:solidFill>
                  <a:schemeClr val="tx1"/>
                </a:solidFill>
              </a:rPr>
              <a:t>Documentation</a:t>
            </a:r>
            <a:endParaRPr lang="en-US" sz="1600" dirty="0"/>
          </a:p>
        </p:txBody>
      </p:sp>
      <p:sp>
        <p:nvSpPr>
          <p:cNvPr id="58" name="Tool chip Kali Linux"/>
          <p:cNvSpPr/>
          <p:nvPr/>
        </p:nvSpPr>
        <p:spPr>
          <a:xfrm>
            <a:off x="548640" y="5852160"/>
            <a:ext cx="1371600" cy="411480"/>
          </a:xfrm>
          <a:prstGeom prst="roundRect">
            <a:avLst>
              <a:gd name="adj" fmla="val 44444"/>
            </a:avLst>
          </a:prstGeom>
          <a:solidFill>
            <a:schemeClr val="bg2"/>
          </a:solidFill>
          <a:ln/>
        </p:spPr>
      </p:sp>
      <p:sp>
        <p:nvSpPr>
          <p:cNvPr id="59" name="Text 54"/>
          <p:cNvSpPr txBox="1"/>
          <p:nvPr/>
        </p:nvSpPr>
        <p:spPr>
          <a:xfrm>
            <a:off x="548640" y="5852160"/>
            <a:ext cx="1371600" cy="411480"/>
          </a:xfrm>
          <a:prstGeom prst="rect">
            <a:avLst/>
          </a:prstGeom>
          <a:noFill/>
          <a:ln/>
        </p:spPr>
        <p:txBody>
          <a:bodyPr wrap="square" lIns="0" tIns="0" rIns="0" bIns="0" rtlCol="0" anchor="ctr"/>
          <a:lstStyle/>
          <a:p>
            <a:pPr algn="ctr" indent="0" marL="0">
              <a:buNone/>
            </a:pPr>
            <a:r>
              <a:rPr lang="en-US" sz="1300" b="1" dirty="0">
                <a:solidFill>
                  <a:schemeClr val="accent6"/>
                </a:solidFill>
              </a:rPr>
              <a:t>Kali Linux</a:t>
            </a:r>
            <a:endParaRPr lang="en-US" sz="1300" dirty="0"/>
          </a:p>
        </p:txBody>
      </p:sp>
      <p:sp>
        <p:nvSpPr>
          <p:cNvPr id="60" name="Tool chip Python 3"/>
          <p:cNvSpPr/>
          <p:nvPr/>
        </p:nvSpPr>
        <p:spPr>
          <a:xfrm>
            <a:off x="2029968" y="5852160"/>
            <a:ext cx="1371600" cy="411480"/>
          </a:xfrm>
          <a:prstGeom prst="roundRect">
            <a:avLst>
              <a:gd name="adj" fmla="val 44444"/>
            </a:avLst>
          </a:prstGeom>
          <a:solidFill>
            <a:schemeClr val="bg2"/>
          </a:solidFill>
          <a:ln/>
        </p:spPr>
      </p:sp>
      <p:sp>
        <p:nvSpPr>
          <p:cNvPr id="61" name="Text 56"/>
          <p:cNvSpPr txBox="1"/>
          <p:nvPr/>
        </p:nvSpPr>
        <p:spPr>
          <a:xfrm>
            <a:off x="2029968" y="5852160"/>
            <a:ext cx="1371600" cy="411480"/>
          </a:xfrm>
          <a:prstGeom prst="rect">
            <a:avLst/>
          </a:prstGeom>
          <a:noFill/>
          <a:ln/>
        </p:spPr>
        <p:txBody>
          <a:bodyPr wrap="square" lIns="0" tIns="0" rIns="0" bIns="0" rtlCol="0" anchor="ctr"/>
          <a:lstStyle/>
          <a:p>
            <a:pPr algn="ctr" indent="0" marL="0">
              <a:buNone/>
            </a:pPr>
            <a:r>
              <a:rPr lang="en-US" sz="1300" b="1" dirty="0">
                <a:solidFill>
                  <a:schemeClr val="accent6"/>
                </a:solidFill>
              </a:rPr>
              <a:t>Python 3</a:t>
            </a:r>
            <a:endParaRPr lang="en-US" sz="1300" dirty="0"/>
          </a:p>
        </p:txBody>
      </p:sp>
      <p:sp>
        <p:nvSpPr>
          <p:cNvPr id="62" name="Tool chip Flask"/>
          <p:cNvSpPr/>
          <p:nvPr/>
        </p:nvSpPr>
        <p:spPr>
          <a:xfrm>
            <a:off x="3511296" y="5852160"/>
            <a:ext cx="1097280" cy="411480"/>
          </a:xfrm>
          <a:prstGeom prst="roundRect">
            <a:avLst>
              <a:gd name="adj" fmla="val 44444"/>
            </a:avLst>
          </a:prstGeom>
          <a:solidFill>
            <a:schemeClr val="bg2"/>
          </a:solidFill>
          <a:ln/>
        </p:spPr>
      </p:sp>
      <p:sp>
        <p:nvSpPr>
          <p:cNvPr id="63" name="Text 58"/>
          <p:cNvSpPr txBox="1"/>
          <p:nvPr/>
        </p:nvSpPr>
        <p:spPr>
          <a:xfrm>
            <a:off x="3511296" y="5852160"/>
            <a:ext cx="1097280" cy="411480"/>
          </a:xfrm>
          <a:prstGeom prst="rect">
            <a:avLst/>
          </a:prstGeom>
          <a:noFill/>
          <a:ln/>
        </p:spPr>
        <p:txBody>
          <a:bodyPr wrap="square" lIns="0" tIns="0" rIns="0" bIns="0" rtlCol="0" anchor="ctr"/>
          <a:lstStyle/>
          <a:p>
            <a:pPr algn="ctr" indent="0" marL="0">
              <a:buNone/>
            </a:pPr>
            <a:r>
              <a:rPr lang="en-US" sz="1300" b="1" dirty="0">
                <a:solidFill>
                  <a:schemeClr val="accent6"/>
                </a:solidFill>
              </a:rPr>
              <a:t>Flask</a:t>
            </a:r>
            <a:endParaRPr lang="en-US" sz="1300" dirty="0"/>
          </a:p>
        </p:txBody>
      </p:sp>
      <p:sp>
        <p:nvSpPr>
          <p:cNvPr id="64" name="Tool chip HTML + CSS"/>
          <p:cNvSpPr/>
          <p:nvPr/>
        </p:nvSpPr>
        <p:spPr>
          <a:xfrm>
            <a:off x="4718304" y="5852160"/>
            <a:ext cx="1463040" cy="411480"/>
          </a:xfrm>
          <a:prstGeom prst="roundRect">
            <a:avLst>
              <a:gd name="adj" fmla="val 44444"/>
            </a:avLst>
          </a:prstGeom>
          <a:solidFill>
            <a:schemeClr val="bg2"/>
          </a:solidFill>
          <a:ln/>
        </p:spPr>
      </p:sp>
      <p:sp>
        <p:nvSpPr>
          <p:cNvPr id="65" name="Text 60"/>
          <p:cNvSpPr txBox="1"/>
          <p:nvPr/>
        </p:nvSpPr>
        <p:spPr>
          <a:xfrm>
            <a:off x="4718304" y="5852160"/>
            <a:ext cx="1463040" cy="411480"/>
          </a:xfrm>
          <a:prstGeom prst="rect">
            <a:avLst/>
          </a:prstGeom>
          <a:noFill/>
          <a:ln/>
        </p:spPr>
        <p:txBody>
          <a:bodyPr wrap="square" lIns="0" tIns="0" rIns="0" bIns="0" rtlCol="0" anchor="ctr"/>
          <a:lstStyle/>
          <a:p>
            <a:pPr algn="ctr" indent="0" marL="0">
              <a:buNone/>
            </a:pPr>
            <a:r>
              <a:rPr lang="en-US" sz="1300" b="1" dirty="0">
                <a:solidFill>
                  <a:schemeClr val="accent6"/>
                </a:solidFill>
              </a:rPr>
              <a:t>HTML + CSS</a:t>
            </a:r>
            <a:endParaRPr lang="en-US" sz="1300" dirty="0"/>
          </a:p>
        </p:txBody>
      </p:sp>
      <p:sp>
        <p:nvSpPr>
          <p:cNvPr id="66" name="Tool chip JavaScript"/>
          <p:cNvSpPr/>
          <p:nvPr/>
        </p:nvSpPr>
        <p:spPr>
          <a:xfrm>
            <a:off x="6291072" y="5852160"/>
            <a:ext cx="1463040" cy="411480"/>
          </a:xfrm>
          <a:prstGeom prst="roundRect">
            <a:avLst>
              <a:gd name="adj" fmla="val 44444"/>
            </a:avLst>
          </a:prstGeom>
          <a:solidFill>
            <a:schemeClr val="bg2"/>
          </a:solidFill>
          <a:ln/>
        </p:spPr>
      </p:sp>
      <p:sp>
        <p:nvSpPr>
          <p:cNvPr id="67" name="Text 62"/>
          <p:cNvSpPr txBox="1"/>
          <p:nvPr/>
        </p:nvSpPr>
        <p:spPr>
          <a:xfrm>
            <a:off x="6291072" y="5852160"/>
            <a:ext cx="1463040" cy="411480"/>
          </a:xfrm>
          <a:prstGeom prst="rect">
            <a:avLst/>
          </a:prstGeom>
          <a:noFill/>
          <a:ln/>
        </p:spPr>
        <p:txBody>
          <a:bodyPr wrap="square" lIns="0" tIns="0" rIns="0" bIns="0" rtlCol="0" anchor="ctr"/>
          <a:lstStyle/>
          <a:p>
            <a:pPr algn="ctr" indent="0" marL="0">
              <a:buNone/>
            </a:pPr>
            <a:r>
              <a:rPr lang="en-US" sz="1300" b="1" dirty="0">
                <a:solidFill>
                  <a:schemeClr val="accent6"/>
                </a:solidFill>
              </a:rPr>
              <a:t>JavaScript</a:t>
            </a:r>
            <a:endParaRPr lang="en-US" sz="1300" dirty="0"/>
          </a:p>
        </p:txBody>
      </p:sp>
      <p:sp>
        <p:nvSpPr>
          <p:cNvPr id="68" name="Tool chip JSON"/>
          <p:cNvSpPr/>
          <p:nvPr/>
        </p:nvSpPr>
        <p:spPr>
          <a:xfrm>
            <a:off x="7863840" y="5852160"/>
            <a:ext cx="1097280" cy="411480"/>
          </a:xfrm>
          <a:prstGeom prst="roundRect">
            <a:avLst>
              <a:gd name="adj" fmla="val 44444"/>
            </a:avLst>
          </a:prstGeom>
          <a:solidFill>
            <a:schemeClr val="bg2"/>
          </a:solidFill>
          <a:ln/>
        </p:spPr>
      </p:sp>
      <p:sp>
        <p:nvSpPr>
          <p:cNvPr id="69" name="Text 64"/>
          <p:cNvSpPr txBox="1"/>
          <p:nvPr/>
        </p:nvSpPr>
        <p:spPr>
          <a:xfrm>
            <a:off x="7863840" y="5852160"/>
            <a:ext cx="1097280" cy="411480"/>
          </a:xfrm>
          <a:prstGeom prst="rect">
            <a:avLst/>
          </a:prstGeom>
          <a:noFill/>
          <a:ln/>
        </p:spPr>
        <p:txBody>
          <a:bodyPr wrap="square" lIns="0" tIns="0" rIns="0" bIns="0" rtlCol="0" anchor="ctr"/>
          <a:lstStyle/>
          <a:p>
            <a:pPr algn="ctr" indent="0" marL="0">
              <a:buNone/>
            </a:pPr>
            <a:r>
              <a:rPr lang="en-US" sz="1300" b="1" dirty="0">
                <a:solidFill>
                  <a:schemeClr val="accent6"/>
                </a:solidFill>
              </a:rPr>
              <a:t>JSON</a:t>
            </a:r>
            <a:endParaRPr lang="en-US" sz="1300" dirty="0"/>
          </a:p>
        </p:txBody>
      </p:sp>
      <p:sp>
        <p:nvSpPr>
          <p:cNvPr id="70" name="Tool chip Oracle VirtualBox"/>
          <p:cNvSpPr/>
          <p:nvPr/>
        </p:nvSpPr>
        <p:spPr>
          <a:xfrm>
            <a:off x="9070848" y="5852160"/>
            <a:ext cx="2011680" cy="411480"/>
          </a:xfrm>
          <a:prstGeom prst="roundRect">
            <a:avLst>
              <a:gd name="adj" fmla="val 44444"/>
            </a:avLst>
          </a:prstGeom>
          <a:solidFill>
            <a:schemeClr val="bg2"/>
          </a:solidFill>
          <a:ln/>
        </p:spPr>
      </p:sp>
      <p:sp>
        <p:nvSpPr>
          <p:cNvPr id="71" name="Text 66"/>
          <p:cNvSpPr txBox="1"/>
          <p:nvPr/>
        </p:nvSpPr>
        <p:spPr>
          <a:xfrm>
            <a:off x="9070848" y="5852160"/>
            <a:ext cx="2011680" cy="411480"/>
          </a:xfrm>
          <a:prstGeom prst="rect">
            <a:avLst/>
          </a:prstGeom>
          <a:noFill/>
          <a:ln/>
        </p:spPr>
        <p:txBody>
          <a:bodyPr wrap="square" lIns="0" tIns="0" rIns="0" bIns="0" rtlCol="0" anchor="ctr"/>
          <a:lstStyle/>
          <a:p>
            <a:pPr algn="ctr" indent="0" marL="0">
              <a:buNone/>
            </a:pPr>
            <a:r>
              <a:rPr lang="en-US" sz="1300" b="1" dirty="0">
                <a:solidFill>
                  <a:schemeClr val="accent6"/>
                </a:solidFill>
              </a:rPr>
              <a:t>Oracle VirtualBox</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Key Features and Implementation</a:t>
            </a:r>
            <a:endParaRPr lang="en-US" sz="3600" dirty="0"/>
          </a:p>
        </p:txBody>
      </p:sp>
      <p:sp>
        <p:nvSpPr>
          <p:cNvPr id="3" name="Card threshold panel"/>
          <p:cNvSpPr/>
          <p:nvPr/>
        </p:nvSpPr>
        <p:spPr>
          <a:xfrm>
            <a:off x="548640" y="1691640"/>
            <a:ext cx="4480560" cy="4434840"/>
          </a:xfrm>
          <a:prstGeom prst="roundRect">
            <a:avLst>
              <a:gd name="adj" fmla="val 2474"/>
            </a:avLst>
          </a:prstGeom>
          <a:solidFill>
            <a:schemeClr val="bg2"/>
          </a:solidFill>
          <a:ln/>
        </p:spPr>
      </p:sp>
      <p:sp>
        <p:nvSpPr>
          <p:cNvPr id="4" name="Text 2"/>
          <p:cNvSpPr txBox="1"/>
          <p:nvPr/>
        </p:nvSpPr>
        <p:spPr>
          <a:xfrm>
            <a:off x="822960" y="1874520"/>
            <a:ext cx="3931920" cy="365760"/>
          </a:xfrm>
          <a:prstGeom prst="rect">
            <a:avLst/>
          </a:prstGeom>
          <a:noFill/>
          <a:ln/>
        </p:spPr>
        <p:txBody>
          <a:bodyPr wrap="square" lIns="0" tIns="0" rIns="0" bIns="0" rtlCol="0" anchor="t"/>
          <a:lstStyle/>
          <a:p>
            <a:pPr algn="l" indent="0" marL="0">
              <a:buNone/>
            </a:pPr>
            <a:r>
              <a:rPr lang="en-US" sz="2000" b="1" dirty="0">
                <a:solidFill>
                  <a:schemeClr val="tx1"/>
                </a:solidFill>
              </a:rPr>
              <a:t>Threshold-based alerts</a:t>
            </a:r>
            <a:endParaRPr lang="en-US" sz="2000" dirty="0"/>
          </a:p>
        </p:txBody>
      </p:sp>
      <p:sp>
        <p:nvSpPr>
          <p:cNvPr id="5" name="Text 3"/>
          <p:cNvSpPr txBox="1"/>
          <p:nvPr/>
        </p:nvSpPr>
        <p:spPr>
          <a:xfrm>
            <a:off x="822960" y="2331720"/>
            <a:ext cx="3931920" cy="914400"/>
          </a:xfrm>
          <a:prstGeom prst="rect">
            <a:avLst/>
          </a:prstGeom>
          <a:noFill/>
          <a:ln/>
        </p:spPr>
        <p:txBody>
          <a:bodyPr wrap="square" lIns="0" tIns="0" rIns="0" bIns="0" rtlCol="0" anchor="t"/>
          <a:lstStyle/>
          <a:p>
            <a:pPr algn="l" indent="0" marL="0">
              <a:buNone/>
            </a:pPr>
            <a:r>
              <a:rPr lang="en-US" sz="1400" dirty="0">
                <a:solidFill>
                  <a:schemeClr val="accent5"/>
                </a:solidFill>
              </a:rPr>
              <a:t>Disk and inode usage is compared with two limits. The defaults can be changed in the dashboard and are saved in config.json.</a:t>
            </a:r>
            <a:endParaRPr lang="en-US" sz="1400" dirty="0"/>
          </a:p>
        </p:txBody>
      </p:sp>
      <p:sp>
        <p:nvSpPr>
          <p:cNvPr id="6" name="Text 4"/>
          <p:cNvSpPr txBox="1"/>
          <p:nvPr/>
        </p:nvSpPr>
        <p:spPr>
          <a:xfrm>
            <a:off x="3328416" y="3337560"/>
            <a:ext cx="640080" cy="274320"/>
          </a:xfrm>
          <a:prstGeom prst="rect">
            <a:avLst/>
          </a:prstGeom>
          <a:noFill/>
          <a:ln/>
        </p:spPr>
        <p:txBody>
          <a:bodyPr wrap="square" lIns="0" tIns="0" rIns="0" bIns="0" rtlCol="0" anchor="t"/>
          <a:lstStyle/>
          <a:p>
            <a:pPr algn="r" indent="0" marL="0">
              <a:buNone/>
            </a:pPr>
            <a:r>
              <a:rPr lang="en-US" sz="1200" b="1" dirty="0">
                <a:solidFill>
                  <a:schemeClr val="tx1"/>
                </a:solidFill>
              </a:rPr>
              <a:t>80%</a:t>
            </a:r>
            <a:endParaRPr lang="en-US" sz="1200" dirty="0"/>
          </a:p>
        </p:txBody>
      </p:sp>
      <p:sp>
        <p:nvSpPr>
          <p:cNvPr id="7" name="Text 5"/>
          <p:cNvSpPr txBox="1"/>
          <p:nvPr/>
        </p:nvSpPr>
        <p:spPr>
          <a:xfrm>
            <a:off x="4398264" y="3337560"/>
            <a:ext cx="457200" cy="274320"/>
          </a:xfrm>
          <a:prstGeom prst="rect">
            <a:avLst/>
          </a:prstGeom>
          <a:noFill/>
          <a:ln/>
        </p:spPr>
        <p:txBody>
          <a:bodyPr wrap="square" lIns="0" tIns="0" rIns="0" bIns="0" rtlCol="0" anchor="t"/>
          <a:lstStyle/>
          <a:p>
            <a:pPr algn="l" indent="0" marL="0">
              <a:buNone/>
            </a:pPr>
            <a:r>
              <a:rPr lang="en-US" sz="1200" b="1" dirty="0">
                <a:solidFill>
                  <a:schemeClr val="tx1"/>
                </a:solidFill>
              </a:rPr>
              <a:t>90%</a:t>
            </a:r>
            <a:endParaRPr lang="en-US" sz="1200" dirty="0"/>
          </a:p>
        </p:txBody>
      </p:sp>
      <p:sp>
        <p:nvSpPr>
          <p:cNvPr id="8" name="Gauge normal"/>
          <p:cNvSpPr/>
          <p:nvPr/>
        </p:nvSpPr>
        <p:spPr>
          <a:xfrm>
            <a:off x="822960" y="3657600"/>
            <a:ext cx="3145536" cy="411480"/>
          </a:xfrm>
          <a:prstGeom prst="rect">
            <a:avLst/>
          </a:prstGeom>
          <a:solidFill>
            <a:schemeClr val="accent1"/>
          </a:solidFill>
          <a:ln/>
        </p:spPr>
      </p:sp>
      <p:sp>
        <p:nvSpPr>
          <p:cNvPr id="9" name="Gauge warning"/>
          <p:cNvSpPr/>
          <p:nvPr/>
        </p:nvSpPr>
        <p:spPr>
          <a:xfrm>
            <a:off x="3968496" y="3657600"/>
            <a:ext cx="393192" cy="411480"/>
          </a:xfrm>
          <a:prstGeom prst="rect">
            <a:avLst/>
          </a:prstGeom>
          <a:solidFill>
            <a:schemeClr val="accent2"/>
          </a:solidFill>
          <a:ln/>
        </p:spPr>
      </p:sp>
      <p:sp>
        <p:nvSpPr>
          <p:cNvPr id="10" name="Gauge critical"/>
          <p:cNvSpPr/>
          <p:nvPr/>
        </p:nvSpPr>
        <p:spPr>
          <a:xfrm>
            <a:off x="4361688" y="3657600"/>
            <a:ext cx="393192" cy="411480"/>
          </a:xfrm>
          <a:prstGeom prst="rect">
            <a:avLst/>
          </a:prstGeom>
          <a:solidFill>
            <a:schemeClr val="accent3"/>
          </a:solidFill>
          <a:ln/>
        </p:spPr>
      </p:sp>
      <p:sp>
        <p:nvSpPr>
          <p:cNvPr id="11" name="Legend dot 1"/>
          <p:cNvSpPr/>
          <p:nvPr/>
        </p:nvSpPr>
        <p:spPr>
          <a:xfrm>
            <a:off x="868680" y="4462272"/>
            <a:ext cx="201168" cy="201168"/>
          </a:xfrm>
          <a:prstGeom prst="ellipse">
            <a:avLst/>
          </a:prstGeom>
          <a:solidFill>
            <a:schemeClr val="accent1"/>
          </a:solidFill>
          <a:ln/>
        </p:spPr>
      </p:sp>
      <p:sp>
        <p:nvSpPr>
          <p:cNvPr id="12" name="Text 10"/>
          <p:cNvSpPr txBox="1"/>
          <p:nvPr/>
        </p:nvSpPr>
        <p:spPr>
          <a:xfrm>
            <a:off x="1280160" y="4389120"/>
            <a:ext cx="3566160" cy="347472"/>
          </a:xfrm>
          <a:prstGeom prst="rect">
            <a:avLst/>
          </a:prstGeom>
          <a:noFill/>
          <a:ln/>
        </p:spPr>
        <p:txBody>
          <a:bodyPr wrap="square" lIns="0" tIns="0" rIns="0" bIns="0" rtlCol="0" anchor="ctr"/>
          <a:lstStyle/>
          <a:p>
            <a:pPr algn="l" indent="0" marL="0">
              <a:buNone/>
            </a:pPr>
            <a:r>
              <a:rPr lang="en-US" sz="1400" dirty="0">
                <a:solidFill>
                  <a:schemeClr val="tx1"/>
                </a:solidFill>
              </a:rPr>
              <a:t>Normal: below the warning level</a:t>
            </a:r>
            <a:endParaRPr lang="en-US" sz="1400" dirty="0"/>
          </a:p>
        </p:txBody>
      </p:sp>
      <p:sp>
        <p:nvSpPr>
          <p:cNvPr id="13" name="Legend dot 2"/>
          <p:cNvSpPr/>
          <p:nvPr/>
        </p:nvSpPr>
        <p:spPr>
          <a:xfrm>
            <a:off x="868680" y="4919472"/>
            <a:ext cx="201168" cy="201168"/>
          </a:xfrm>
          <a:prstGeom prst="ellipse">
            <a:avLst/>
          </a:prstGeom>
          <a:solidFill>
            <a:schemeClr val="accent2"/>
          </a:solidFill>
          <a:ln/>
        </p:spPr>
      </p:sp>
      <p:sp>
        <p:nvSpPr>
          <p:cNvPr id="14" name="Text 12"/>
          <p:cNvSpPr txBox="1"/>
          <p:nvPr/>
        </p:nvSpPr>
        <p:spPr>
          <a:xfrm>
            <a:off x="1280160" y="4846320"/>
            <a:ext cx="3566160" cy="347472"/>
          </a:xfrm>
          <a:prstGeom prst="rect">
            <a:avLst/>
          </a:prstGeom>
          <a:noFill/>
          <a:ln/>
        </p:spPr>
        <p:txBody>
          <a:bodyPr wrap="square" lIns="0" tIns="0" rIns="0" bIns="0" rtlCol="0" anchor="ctr"/>
          <a:lstStyle/>
          <a:p>
            <a:pPr algn="l" indent="0" marL="0">
              <a:buNone/>
            </a:pPr>
            <a:r>
              <a:rPr lang="en-US" sz="1400" dirty="0">
                <a:solidFill>
                  <a:schemeClr val="tx1"/>
                </a:solidFill>
              </a:rPr>
              <a:t>Warning: 80% threshold (default)</a:t>
            </a:r>
            <a:endParaRPr lang="en-US" sz="1400" dirty="0"/>
          </a:p>
        </p:txBody>
      </p:sp>
      <p:sp>
        <p:nvSpPr>
          <p:cNvPr id="15" name="Legend dot 3"/>
          <p:cNvSpPr/>
          <p:nvPr/>
        </p:nvSpPr>
        <p:spPr>
          <a:xfrm>
            <a:off x="868680" y="5376672"/>
            <a:ext cx="201168" cy="201168"/>
          </a:xfrm>
          <a:prstGeom prst="ellipse">
            <a:avLst/>
          </a:prstGeom>
          <a:solidFill>
            <a:schemeClr val="accent3"/>
          </a:solidFill>
          <a:ln/>
        </p:spPr>
      </p:sp>
      <p:sp>
        <p:nvSpPr>
          <p:cNvPr id="16" name="Text 14"/>
          <p:cNvSpPr txBox="1"/>
          <p:nvPr/>
        </p:nvSpPr>
        <p:spPr>
          <a:xfrm>
            <a:off x="1280160" y="5303520"/>
            <a:ext cx="3566160" cy="347472"/>
          </a:xfrm>
          <a:prstGeom prst="rect">
            <a:avLst/>
          </a:prstGeom>
          <a:noFill/>
          <a:ln/>
        </p:spPr>
        <p:txBody>
          <a:bodyPr wrap="square" lIns="0" tIns="0" rIns="0" bIns="0" rtlCol="0" anchor="ctr"/>
          <a:lstStyle/>
          <a:p>
            <a:pPr algn="l" indent="0" marL="0">
              <a:buNone/>
            </a:pPr>
            <a:r>
              <a:rPr lang="en-US" sz="1400" dirty="0">
                <a:solidFill>
                  <a:schemeClr val="tx1"/>
                </a:solidFill>
              </a:rPr>
              <a:t>Critical: 90% threshold (default)</a:t>
            </a:r>
            <a:endParaRPr lang="en-US" sz="1400" dirty="0"/>
          </a:p>
        </p:txBody>
      </p:sp>
      <p:sp>
        <p:nvSpPr>
          <p:cNvPr id="17" name="Card feature Filesystem monitoring"/>
          <p:cNvSpPr/>
          <p:nvPr/>
        </p:nvSpPr>
        <p:spPr>
          <a:xfrm>
            <a:off x="5303520" y="1691640"/>
            <a:ext cx="3090672" cy="1417320"/>
          </a:xfrm>
          <a:prstGeom prst="roundRect">
            <a:avLst>
              <a:gd name="adj" fmla="val 7742"/>
            </a:avLst>
          </a:prstGeom>
          <a:solidFill>
            <a:schemeClr val="bg2"/>
          </a:solidFill>
          <a:ln/>
        </p:spPr>
      </p:sp>
      <p:sp>
        <p:nvSpPr>
          <p:cNvPr id="18" name="Icon circle feature 1"/>
          <p:cNvSpPr/>
          <p:nvPr/>
        </p:nvSpPr>
        <p:spPr>
          <a:xfrm>
            <a:off x="5486400" y="1828800"/>
            <a:ext cx="457200" cy="457200"/>
          </a:xfrm>
          <a:prstGeom prst="ellipse">
            <a:avLst/>
          </a:prstGeom>
          <a:solidFill>
            <a:schemeClr val="accent1"/>
          </a:solidFill>
          <a:ln/>
        </p:spPr>
      </p:sp>
      <p:pic>
        <p:nvPicPr>
          <p:cNvPr id="19" name="Image 0" descr="Hdd icon">    </p:cNvPr>
          <p:cNvPicPr>
            <a:picLocks noChangeAspect="1"/>
          </p:cNvPicPr>
          <p:nvPr/>
        </p:nvPicPr>
        <p:blipFill>
          <a:blip r:embed="rId1"/>
          <a:stretch>
            <a:fillRect/>
          </a:stretch>
        </p:blipFill>
        <p:spPr>
          <a:xfrm>
            <a:off x="5600700" y="1943100"/>
            <a:ext cx="228600" cy="228600"/>
          </a:xfrm>
          <a:prstGeom prst="rect">
            <a:avLst/>
          </a:prstGeom>
        </p:spPr>
      </p:pic>
      <p:sp>
        <p:nvSpPr>
          <p:cNvPr id="20" name="Text 17"/>
          <p:cNvSpPr txBox="1"/>
          <p:nvPr/>
        </p:nvSpPr>
        <p:spPr>
          <a:xfrm>
            <a:off x="6080760" y="1828800"/>
            <a:ext cx="2194560" cy="457200"/>
          </a:xfrm>
          <a:prstGeom prst="rect">
            <a:avLst/>
          </a:prstGeom>
          <a:noFill/>
          <a:ln/>
        </p:spPr>
        <p:txBody>
          <a:bodyPr wrap="square" lIns="0" tIns="0" rIns="0" bIns="0" rtlCol="0" anchor="ctr"/>
          <a:lstStyle/>
          <a:p>
            <a:pPr algn="l" indent="0" marL="0">
              <a:buNone/>
            </a:pPr>
            <a:r>
              <a:rPr lang="en-US" sz="1600" b="1" dirty="0">
                <a:solidFill>
                  <a:schemeClr val="tx1"/>
                </a:solidFill>
              </a:rPr>
              <a:t>Filesystem monitoring</a:t>
            </a:r>
            <a:endParaRPr lang="en-US" sz="1600" dirty="0"/>
          </a:p>
        </p:txBody>
      </p:sp>
      <p:sp>
        <p:nvSpPr>
          <p:cNvPr id="21" name="Text 18"/>
          <p:cNvSpPr txBox="1"/>
          <p:nvPr/>
        </p:nvSpPr>
        <p:spPr>
          <a:xfrm>
            <a:off x="5486400" y="2350008"/>
            <a:ext cx="2724912" cy="685800"/>
          </a:xfrm>
          <a:prstGeom prst="rect">
            <a:avLst/>
          </a:prstGeom>
          <a:noFill/>
          <a:ln/>
        </p:spPr>
        <p:txBody>
          <a:bodyPr wrap="square" lIns="0" tIns="0" rIns="0" bIns="0" rtlCol="0" anchor="t"/>
          <a:lstStyle/>
          <a:p>
            <a:pPr algn="l" indent="0" marL="0">
              <a:buNone/>
            </a:pPr>
            <a:r>
              <a:rPr lang="en-US" sz="1400" dirty="0">
                <a:solidFill>
                  <a:schemeClr val="accent5"/>
                </a:solidFill>
              </a:rPr>
              <a:t>Type, capacity, used and free space, mount point and usage %</a:t>
            </a:r>
            <a:endParaRPr lang="en-US" sz="1400" dirty="0"/>
          </a:p>
        </p:txBody>
      </p:sp>
      <p:sp>
        <p:nvSpPr>
          <p:cNvPr id="22" name="Card feature Inode monitoring"/>
          <p:cNvSpPr/>
          <p:nvPr/>
        </p:nvSpPr>
        <p:spPr>
          <a:xfrm>
            <a:off x="8549640" y="1691640"/>
            <a:ext cx="3090672" cy="1417320"/>
          </a:xfrm>
          <a:prstGeom prst="roundRect">
            <a:avLst>
              <a:gd name="adj" fmla="val 7742"/>
            </a:avLst>
          </a:prstGeom>
          <a:solidFill>
            <a:schemeClr val="bg2"/>
          </a:solidFill>
          <a:ln/>
        </p:spPr>
      </p:sp>
      <p:sp>
        <p:nvSpPr>
          <p:cNvPr id="23" name="Icon circle feature 2"/>
          <p:cNvSpPr/>
          <p:nvPr/>
        </p:nvSpPr>
        <p:spPr>
          <a:xfrm>
            <a:off x="8732520" y="1828800"/>
            <a:ext cx="457200" cy="457200"/>
          </a:xfrm>
          <a:prstGeom prst="ellipse">
            <a:avLst/>
          </a:prstGeom>
          <a:solidFill>
            <a:schemeClr val="accent1"/>
          </a:solidFill>
          <a:ln/>
        </p:spPr>
      </p:sp>
      <p:pic>
        <p:nvPicPr>
          <p:cNvPr id="24" name="Image 1" descr="Database icon">    </p:cNvPr>
          <p:cNvPicPr>
            <a:picLocks noChangeAspect="1"/>
          </p:cNvPicPr>
          <p:nvPr/>
        </p:nvPicPr>
        <p:blipFill>
          <a:blip r:embed="rId2"/>
          <a:stretch>
            <a:fillRect/>
          </a:stretch>
        </p:blipFill>
        <p:spPr>
          <a:xfrm>
            <a:off x="8846820" y="1943100"/>
            <a:ext cx="228600" cy="228600"/>
          </a:xfrm>
          <a:prstGeom prst="rect">
            <a:avLst/>
          </a:prstGeom>
        </p:spPr>
      </p:pic>
      <p:sp>
        <p:nvSpPr>
          <p:cNvPr id="25" name="Text 21"/>
          <p:cNvSpPr txBox="1"/>
          <p:nvPr/>
        </p:nvSpPr>
        <p:spPr>
          <a:xfrm>
            <a:off x="9326880" y="1828800"/>
            <a:ext cx="2194560" cy="457200"/>
          </a:xfrm>
          <a:prstGeom prst="rect">
            <a:avLst/>
          </a:prstGeom>
          <a:noFill/>
          <a:ln/>
        </p:spPr>
        <p:txBody>
          <a:bodyPr wrap="square" lIns="0" tIns="0" rIns="0" bIns="0" rtlCol="0" anchor="ctr"/>
          <a:lstStyle/>
          <a:p>
            <a:pPr algn="l" indent="0" marL="0">
              <a:buNone/>
            </a:pPr>
            <a:r>
              <a:rPr lang="en-US" sz="1600" b="1" dirty="0">
                <a:solidFill>
                  <a:schemeClr val="tx1"/>
                </a:solidFill>
              </a:rPr>
              <a:t>Inode monitoring</a:t>
            </a:r>
            <a:endParaRPr lang="en-US" sz="1600" dirty="0"/>
          </a:p>
        </p:txBody>
      </p:sp>
      <p:sp>
        <p:nvSpPr>
          <p:cNvPr id="26" name="Text 22"/>
          <p:cNvSpPr txBox="1"/>
          <p:nvPr/>
        </p:nvSpPr>
        <p:spPr>
          <a:xfrm>
            <a:off x="8732520" y="2350008"/>
            <a:ext cx="2724912" cy="685800"/>
          </a:xfrm>
          <a:prstGeom prst="rect">
            <a:avLst/>
          </a:prstGeom>
          <a:noFill/>
          <a:ln/>
        </p:spPr>
        <p:txBody>
          <a:bodyPr wrap="square" lIns="0" tIns="0" rIns="0" bIns="0" rtlCol="0" anchor="t"/>
          <a:lstStyle/>
          <a:p>
            <a:pPr algn="l" indent="0" marL="0">
              <a:buNone/>
            </a:pPr>
            <a:r>
              <a:rPr lang="en-US" sz="1400" dirty="0">
                <a:solidFill>
                  <a:schemeClr val="accent5"/>
                </a:solidFill>
              </a:rPr>
              <a:t>Uses df -i. A disk can run out of inodes even when space is free</a:t>
            </a:r>
            <a:endParaRPr lang="en-US" sz="1400" dirty="0"/>
          </a:p>
        </p:txBody>
      </p:sp>
      <p:sp>
        <p:nvSpPr>
          <p:cNvPr id="27" name="Card feature Command console"/>
          <p:cNvSpPr/>
          <p:nvPr/>
        </p:nvSpPr>
        <p:spPr>
          <a:xfrm>
            <a:off x="5303520" y="3200400"/>
            <a:ext cx="3090672" cy="1417320"/>
          </a:xfrm>
          <a:prstGeom prst="roundRect">
            <a:avLst>
              <a:gd name="adj" fmla="val 7742"/>
            </a:avLst>
          </a:prstGeom>
          <a:solidFill>
            <a:schemeClr val="bg2"/>
          </a:solidFill>
          <a:ln/>
        </p:spPr>
      </p:sp>
      <p:sp>
        <p:nvSpPr>
          <p:cNvPr id="28" name="Icon circle feature 3"/>
          <p:cNvSpPr/>
          <p:nvPr/>
        </p:nvSpPr>
        <p:spPr>
          <a:xfrm>
            <a:off x="5486400" y="3337560"/>
            <a:ext cx="457200" cy="457200"/>
          </a:xfrm>
          <a:prstGeom prst="ellipse">
            <a:avLst/>
          </a:prstGeom>
          <a:solidFill>
            <a:schemeClr val="accent1"/>
          </a:solidFill>
          <a:ln/>
        </p:spPr>
      </p:sp>
      <p:pic>
        <p:nvPicPr>
          <p:cNvPr id="29" name="Image 2" descr="Terminal icon">    </p:cNvPr>
          <p:cNvPicPr>
            <a:picLocks noChangeAspect="1"/>
          </p:cNvPicPr>
          <p:nvPr/>
        </p:nvPicPr>
        <p:blipFill>
          <a:blip r:embed="rId3"/>
          <a:stretch>
            <a:fillRect/>
          </a:stretch>
        </p:blipFill>
        <p:spPr>
          <a:xfrm>
            <a:off x="5600700" y="3451860"/>
            <a:ext cx="228600" cy="228600"/>
          </a:xfrm>
          <a:prstGeom prst="rect">
            <a:avLst/>
          </a:prstGeom>
        </p:spPr>
      </p:pic>
      <p:sp>
        <p:nvSpPr>
          <p:cNvPr id="30" name="Text 25"/>
          <p:cNvSpPr txBox="1"/>
          <p:nvPr/>
        </p:nvSpPr>
        <p:spPr>
          <a:xfrm>
            <a:off x="6080760" y="3337560"/>
            <a:ext cx="2194560" cy="457200"/>
          </a:xfrm>
          <a:prstGeom prst="rect">
            <a:avLst/>
          </a:prstGeom>
          <a:noFill/>
          <a:ln/>
        </p:spPr>
        <p:txBody>
          <a:bodyPr wrap="square" lIns="0" tIns="0" rIns="0" bIns="0" rtlCol="0" anchor="ctr"/>
          <a:lstStyle/>
          <a:p>
            <a:pPr algn="l" indent="0" marL="0">
              <a:buNone/>
            </a:pPr>
            <a:r>
              <a:rPr lang="en-US" sz="1600" b="1" dirty="0">
                <a:solidFill>
                  <a:schemeClr val="tx1"/>
                </a:solidFill>
              </a:rPr>
              <a:t>Command console</a:t>
            </a:r>
            <a:endParaRPr lang="en-US" sz="1600" dirty="0"/>
          </a:p>
        </p:txBody>
      </p:sp>
      <p:sp>
        <p:nvSpPr>
          <p:cNvPr id="31" name="Text 26"/>
          <p:cNvSpPr txBox="1"/>
          <p:nvPr/>
        </p:nvSpPr>
        <p:spPr>
          <a:xfrm>
            <a:off x="5486400" y="3858768"/>
            <a:ext cx="2724912" cy="685800"/>
          </a:xfrm>
          <a:prstGeom prst="rect">
            <a:avLst/>
          </a:prstGeom>
          <a:noFill/>
          <a:ln/>
        </p:spPr>
        <p:txBody>
          <a:bodyPr wrap="square" lIns="0" tIns="0" rIns="0" bIns="0" rtlCol="0" anchor="t"/>
          <a:lstStyle/>
          <a:p>
            <a:pPr algn="l" indent="0" marL="0">
              <a:buNone/>
            </a:pPr>
            <a:r>
              <a:rPr lang="en-US" sz="1400" dirty="0">
                <a:solidFill>
                  <a:schemeClr val="accent5"/>
                </a:solidFill>
              </a:rPr>
              <a:t>Only five approved commands can run, such as df, lsblk and findmnt</a:t>
            </a:r>
            <a:endParaRPr lang="en-US" sz="1400" dirty="0"/>
          </a:p>
        </p:txBody>
      </p:sp>
      <p:sp>
        <p:nvSpPr>
          <p:cNvPr id="32" name="Card feature Alerts and logs"/>
          <p:cNvSpPr/>
          <p:nvPr/>
        </p:nvSpPr>
        <p:spPr>
          <a:xfrm>
            <a:off x="8549640" y="3200400"/>
            <a:ext cx="3090672" cy="1417320"/>
          </a:xfrm>
          <a:prstGeom prst="roundRect">
            <a:avLst>
              <a:gd name="adj" fmla="val 7742"/>
            </a:avLst>
          </a:prstGeom>
          <a:solidFill>
            <a:schemeClr val="bg2"/>
          </a:solidFill>
          <a:ln/>
        </p:spPr>
      </p:sp>
      <p:sp>
        <p:nvSpPr>
          <p:cNvPr id="33" name="Icon circle feature 4"/>
          <p:cNvSpPr/>
          <p:nvPr/>
        </p:nvSpPr>
        <p:spPr>
          <a:xfrm>
            <a:off x="8732520" y="3337560"/>
            <a:ext cx="457200" cy="457200"/>
          </a:xfrm>
          <a:prstGeom prst="ellipse">
            <a:avLst/>
          </a:prstGeom>
          <a:solidFill>
            <a:schemeClr val="accent1"/>
          </a:solidFill>
          <a:ln/>
        </p:spPr>
      </p:sp>
      <p:pic>
        <p:nvPicPr>
          <p:cNvPr id="34" name="Image 3" descr="Bell icon">    </p:cNvPr>
          <p:cNvPicPr>
            <a:picLocks noChangeAspect="1"/>
          </p:cNvPicPr>
          <p:nvPr/>
        </p:nvPicPr>
        <p:blipFill>
          <a:blip r:embed="rId4"/>
          <a:stretch>
            <a:fillRect/>
          </a:stretch>
        </p:blipFill>
        <p:spPr>
          <a:xfrm>
            <a:off x="8846820" y="3451860"/>
            <a:ext cx="228600" cy="228600"/>
          </a:xfrm>
          <a:prstGeom prst="rect">
            <a:avLst/>
          </a:prstGeom>
        </p:spPr>
      </p:pic>
      <p:sp>
        <p:nvSpPr>
          <p:cNvPr id="35" name="Text 29"/>
          <p:cNvSpPr txBox="1"/>
          <p:nvPr/>
        </p:nvSpPr>
        <p:spPr>
          <a:xfrm>
            <a:off x="9326880" y="3337560"/>
            <a:ext cx="2194560" cy="457200"/>
          </a:xfrm>
          <a:prstGeom prst="rect">
            <a:avLst/>
          </a:prstGeom>
          <a:noFill/>
          <a:ln/>
        </p:spPr>
        <p:txBody>
          <a:bodyPr wrap="square" lIns="0" tIns="0" rIns="0" bIns="0" rtlCol="0" anchor="ctr"/>
          <a:lstStyle/>
          <a:p>
            <a:pPr algn="l" indent="0" marL="0">
              <a:buNone/>
            </a:pPr>
            <a:r>
              <a:rPr lang="en-US" sz="1600" b="1" dirty="0">
                <a:solidFill>
                  <a:schemeClr val="tx1"/>
                </a:solidFill>
              </a:rPr>
              <a:t>Alerts and logs</a:t>
            </a:r>
            <a:endParaRPr lang="en-US" sz="1600" dirty="0"/>
          </a:p>
        </p:txBody>
      </p:sp>
      <p:sp>
        <p:nvSpPr>
          <p:cNvPr id="36" name="Text 30"/>
          <p:cNvSpPr txBox="1"/>
          <p:nvPr/>
        </p:nvSpPr>
        <p:spPr>
          <a:xfrm>
            <a:off x="8732520" y="3858768"/>
            <a:ext cx="2724912" cy="685800"/>
          </a:xfrm>
          <a:prstGeom prst="rect">
            <a:avLst/>
          </a:prstGeom>
          <a:noFill/>
          <a:ln/>
        </p:spPr>
        <p:txBody>
          <a:bodyPr wrap="square" lIns="0" tIns="0" rIns="0" bIns="0" rtlCol="0" anchor="t"/>
          <a:lstStyle/>
          <a:p>
            <a:pPr algn="l" indent="0" marL="0">
              <a:buNone/>
            </a:pPr>
            <a:r>
              <a:rPr lang="en-US" sz="1400" dirty="0">
                <a:solidFill>
                  <a:schemeClr val="accent5"/>
                </a:solidFill>
              </a:rPr>
              <a:t>Test any % without changing the disk. Activity is logged</a:t>
            </a:r>
            <a:endParaRPr lang="en-US" sz="1400" dirty="0"/>
          </a:p>
        </p:txBody>
      </p:sp>
      <p:sp>
        <p:nvSpPr>
          <p:cNvPr id="37" name="Card feature Storage reports"/>
          <p:cNvSpPr/>
          <p:nvPr/>
        </p:nvSpPr>
        <p:spPr>
          <a:xfrm>
            <a:off x="5303520" y="4709160"/>
            <a:ext cx="3090672" cy="1417320"/>
          </a:xfrm>
          <a:prstGeom prst="roundRect">
            <a:avLst>
              <a:gd name="adj" fmla="val 7742"/>
            </a:avLst>
          </a:prstGeom>
          <a:solidFill>
            <a:schemeClr val="bg2"/>
          </a:solidFill>
          <a:ln/>
        </p:spPr>
      </p:sp>
      <p:sp>
        <p:nvSpPr>
          <p:cNvPr id="38" name="Icon circle feature 5"/>
          <p:cNvSpPr/>
          <p:nvPr/>
        </p:nvSpPr>
        <p:spPr>
          <a:xfrm>
            <a:off x="5486400" y="4846320"/>
            <a:ext cx="457200" cy="457200"/>
          </a:xfrm>
          <a:prstGeom prst="ellipse">
            <a:avLst/>
          </a:prstGeom>
          <a:solidFill>
            <a:schemeClr val="accent1"/>
          </a:solidFill>
          <a:ln/>
        </p:spPr>
      </p:sp>
      <p:pic>
        <p:nvPicPr>
          <p:cNvPr id="39" name="Image 4" descr="FileAlt icon">    </p:cNvPr>
          <p:cNvPicPr>
            <a:picLocks noChangeAspect="1"/>
          </p:cNvPicPr>
          <p:nvPr/>
        </p:nvPicPr>
        <p:blipFill>
          <a:blip r:embed="rId5"/>
          <a:stretch>
            <a:fillRect/>
          </a:stretch>
        </p:blipFill>
        <p:spPr>
          <a:xfrm>
            <a:off x="5600700" y="4960620"/>
            <a:ext cx="228600" cy="228600"/>
          </a:xfrm>
          <a:prstGeom prst="rect">
            <a:avLst/>
          </a:prstGeom>
        </p:spPr>
      </p:pic>
      <p:sp>
        <p:nvSpPr>
          <p:cNvPr id="40" name="Text 33"/>
          <p:cNvSpPr txBox="1"/>
          <p:nvPr/>
        </p:nvSpPr>
        <p:spPr>
          <a:xfrm>
            <a:off x="6080760" y="4846320"/>
            <a:ext cx="2194560" cy="457200"/>
          </a:xfrm>
          <a:prstGeom prst="rect">
            <a:avLst/>
          </a:prstGeom>
          <a:noFill/>
          <a:ln/>
        </p:spPr>
        <p:txBody>
          <a:bodyPr wrap="square" lIns="0" tIns="0" rIns="0" bIns="0" rtlCol="0" anchor="ctr"/>
          <a:lstStyle/>
          <a:p>
            <a:pPr algn="l" indent="0" marL="0">
              <a:buNone/>
            </a:pPr>
            <a:r>
              <a:rPr lang="en-US" sz="1600" b="1" dirty="0">
                <a:solidFill>
                  <a:schemeClr val="tx1"/>
                </a:solidFill>
              </a:rPr>
              <a:t>Storage reports</a:t>
            </a:r>
            <a:endParaRPr lang="en-US" sz="1600" dirty="0"/>
          </a:p>
        </p:txBody>
      </p:sp>
      <p:sp>
        <p:nvSpPr>
          <p:cNvPr id="41" name="Text 34"/>
          <p:cNvSpPr txBox="1"/>
          <p:nvPr/>
        </p:nvSpPr>
        <p:spPr>
          <a:xfrm>
            <a:off x="5486400" y="5367528"/>
            <a:ext cx="2724912" cy="685800"/>
          </a:xfrm>
          <a:prstGeom prst="rect">
            <a:avLst/>
          </a:prstGeom>
          <a:noFill/>
          <a:ln/>
        </p:spPr>
        <p:txBody>
          <a:bodyPr wrap="square" lIns="0" tIns="0" rIns="0" bIns="0" rtlCol="0" anchor="t"/>
          <a:lstStyle/>
          <a:p>
            <a:pPr algn="l" indent="0" marL="0">
              <a:buNone/>
            </a:pPr>
            <a:r>
              <a:rPr lang="en-US" sz="1400" dirty="0">
                <a:solidFill>
                  <a:schemeClr val="accent5"/>
                </a:solidFill>
              </a:rPr>
              <a:t>Download a text snapshot of host, time, thresholds and usage</a:t>
            </a:r>
            <a:endParaRPr lang="en-US" sz="1400" dirty="0"/>
          </a:p>
        </p:txBody>
      </p:sp>
      <p:sp>
        <p:nvSpPr>
          <p:cNvPr id="42" name="Card feature Security"/>
          <p:cNvSpPr/>
          <p:nvPr/>
        </p:nvSpPr>
        <p:spPr>
          <a:xfrm>
            <a:off x="8549640" y="4709160"/>
            <a:ext cx="3090672" cy="1417320"/>
          </a:xfrm>
          <a:prstGeom prst="roundRect">
            <a:avLst>
              <a:gd name="adj" fmla="val 7742"/>
            </a:avLst>
          </a:prstGeom>
          <a:solidFill>
            <a:schemeClr val="bg2"/>
          </a:solidFill>
          <a:ln/>
        </p:spPr>
      </p:sp>
      <p:sp>
        <p:nvSpPr>
          <p:cNvPr id="43" name="Icon circle feature 6"/>
          <p:cNvSpPr/>
          <p:nvPr/>
        </p:nvSpPr>
        <p:spPr>
          <a:xfrm>
            <a:off x="8732520" y="4846320"/>
            <a:ext cx="457200" cy="457200"/>
          </a:xfrm>
          <a:prstGeom prst="ellipse">
            <a:avLst/>
          </a:prstGeom>
          <a:solidFill>
            <a:schemeClr val="accent1"/>
          </a:solidFill>
          <a:ln/>
        </p:spPr>
      </p:sp>
      <p:pic>
        <p:nvPicPr>
          <p:cNvPr id="44" name="Image 5" descr="ShieldAlt icon">    </p:cNvPr>
          <p:cNvPicPr>
            <a:picLocks noChangeAspect="1"/>
          </p:cNvPicPr>
          <p:nvPr/>
        </p:nvPicPr>
        <p:blipFill>
          <a:blip r:embed="rId6"/>
          <a:stretch>
            <a:fillRect/>
          </a:stretch>
        </p:blipFill>
        <p:spPr>
          <a:xfrm>
            <a:off x="8846820" y="4960620"/>
            <a:ext cx="228600" cy="228600"/>
          </a:xfrm>
          <a:prstGeom prst="rect">
            <a:avLst/>
          </a:prstGeom>
        </p:spPr>
      </p:pic>
      <p:sp>
        <p:nvSpPr>
          <p:cNvPr id="45" name="Text 37"/>
          <p:cNvSpPr txBox="1"/>
          <p:nvPr/>
        </p:nvSpPr>
        <p:spPr>
          <a:xfrm>
            <a:off x="9326880" y="4846320"/>
            <a:ext cx="2194560" cy="457200"/>
          </a:xfrm>
          <a:prstGeom prst="rect">
            <a:avLst/>
          </a:prstGeom>
          <a:noFill/>
          <a:ln/>
        </p:spPr>
        <p:txBody>
          <a:bodyPr wrap="square" lIns="0" tIns="0" rIns="0" bIns="0" rtlCol="0" anchor="ctr"/>
          <a:lstStyle/>
          <a:p>
            <a:pPr algn="l" indent="0" marL="0">
              <a:buNone/>
            </a:pPr>
            <a:r>
              <a:rPr lang="en-US" sz="1600" b="1" dirty="0">
                <a:solidFill>
                  <a:schemeClr val="tx1"/>
                </a:solidFill>
              </a:rPr>
              <a:t>Security</a:t>
            </a:r>
            <a:endParaRPr lang="en-US" sz="1600" dirty="0"/>
          </a:p>
        </p:txBody>
      </p:sp>
      <p:sp>
        <p:nvSpPr>
          <p:cNvPr id="46" name="Text 38"/>
          <p:cNvSpPr txBox="1"/>
          <p:nvPr/>
        </p:nvSpPr>
        <p:spPr>
          <a:xfrm>
            <a:off x="8732520" y="5367528"/>
            <a:ext cx="2724912" cy="685800"/>
          </a:xfrm>
          <a:prstGeom prst="rect">
            <a:avLst/>
          </a:prstGeom>
          <a:noFill/>
          <a:ln/>
        </p:spPr>
        <p:txBody>
          <a:bodyPr wrap="square" lIns="0" tIns="0" rIns="0" bIns="0" rtlCol="0" anchor="t"/>
          <a:lstStyle/>
          <a:p>
            <a:pPr algn="l" indent="0" marL="0">
              <a:buNone/>
            </a:pPr>
            <a:r>
              <a:rPr lang="en-US" sz="1400" dirty="0">
                <a:solidFill>
                  <a:schemeClr val="accent5"/>
                </a:solidFill>
              </a:rPr>
              <a:t>Local only (127.0.0.1), approved commands only, no admin rights needed. No login yet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Results and Testing</a:t>
            </a:r>
            <a:endParaRPr lang="en-US" sz="3600" dirty="0"/>
          </a:p>
        </p:txBody>
      </p:sp>
      <p:sp>
        <p:nvSpPr>
          <p:cNvPr id="3" name="Screenshot frame"/>
          <p:cNvSpPr/>
          <p:nvPr/>
        </p:nvSpPr>
        <p:spPr>
          <a:xfrm>
            <a:off x="548640" y="1645920"/>
            <a:ext cx="6126480" cy="3017520"/>
          </a:xfrm>
          <a:prstGeom prst="roundRect">
            <a:avLst>
              <a:gd name="adj" fmla="val 3030"/>
            </a:avLst>
          </a:prstGeom>
          <a:solidFill>
            <a:schemeClr val="bg1"/>
          </a:solidFill>
          <a:ln w="19050">
            <a:solidFill>
              <a:schemeClr val="bg2"/>
            </a:solidFill>
            <a:prstDash val="solid"/>
          </a:ln>
          <a:effectLst>
            <a:outerShdw sx="100000" sy="100000" kx="0" ky="0" algn="bl" rotWithShape="0" blurRad="76200" dist="25400" dir="5400000">
              <a:srgbClr val="000000">
                <a:alpha val="12000"/>
              </a:srgbClr>
            </a:outerShdw>
          </a:effectLst>
        </p:spPr>
      </p:sp>
      <p:pic>
        <p:nvPicPr>
          <p:cNvPr id="4" name="Image 0" descr="Screenshot of the Linux Storage Monitor dashboard showing filesystem summary cards">    </p:cNvPr>
          <p:cNvPicPr>
            <a:picLocks noChangeAspect="1"/>
          </p:cNvPicPr>
          <p:nvPr/>
        </p:nvPicPr>
        <p:blipFill>
          <a:blip r:embed="rId1"/>
          <a:stretch>
            <a:fillRect/>
          </a:stretch>
        </p:blipFill>
        <p:spPr>
          <a:xfrm>
            <a:off x="685800" y="1783080"/>
            <a:ext cx="5852160" cy="2765146"/>
          </a:xfrm>
          <a:prstGeom prst="rect">
            <a:avLst/>
          </a:prstGeom>
        </p:spPr>
      </p:pic>
      <p:sp>
        <p:nvSpPr>
          <p:cNvPr id="5" name="Text 2"/>
          <p:cNvSpPr txBox="1"/>
          <p:nvPr/>
        </p:nvSpPr>
        <p:spPr>
          <a:xfrm>
            <a:off x="548640" y="4736592"/>
            <a:ext cx="6126480" cy="274320"/>
          </a:xfrm>
          <a:prstGeom prst="rect">
            <a:avLst/>
          </a:prstGeom>
          <a:noFill/>
          <a:ln/>
        </p:spPr>
        <p:txBody>
          <a:bodyPr wrap="square" lIns="0" tIns="0" rIns="0" bIns="0" rtlCol="0" anchor="t"/>
          <a:lstStyle/>
          <a:p>
            <a:pPr algn="ctr" indent="0" marL="0">
              <a:buNone/>
            </a:pPr>
            <a:r>
              <a:rPr lang="en-US" sz="1200" dirty="0">
                <a:solidFill>
                  <a:schemeClr val="accent5"/>
                </a:solidFill>
              </a:rPr>
              <a:t>Dashboard from the running application</a:t>
            </a:r>
            <a:endParaRPr lang="en-US" sz="1200" dirty="0"/>
          </a:p>
        </p:txBody>
      </p:sp>
      <p:sp>
        <p:nvSpPr>
          <p:cNvPr id="6" name="Card safe demo"/>
          <p:cNvSpPr/>
          <p:nvPr/>
        </p:nvSpPr>
        <p:spPr>
          <a:xfrm>
            <a:off x="548640" y="5166360"/>
            <a:ext cx="6126480" cy="1005840"/>
          </a:xfrm>
          <a:prstGeom prst="roundRect">
            <a:avLst>
              <a:gd name="adj" fmla="val 10909"/>
            </a:avLst>
          </a:prstGeom>
          <a:solidFill>
            <a:schemeClr val="bg2"/>
          </a:solidFill>
          <a:ln/>
        </p:spPr>
      </p:sp>
      <p:sp>
        <p:nvSpPr>
          <p:cNvPr id="7" name="Icon circle safe demo"/>
          <p:cNvSpPr/>
          <p:nvPr/>
        </p:nvSpPr>
        <p:spPr>
          <a:xfrm>
            <a:off x="777240" y="5440680"/>
            <a:ext cx="457200" cy="457200"/>
          </a:xfrm>
          <a:prstGeom prst="ellipse">
            <a:avLst/>
          </a:prstGeom>
          <a:solidFill>
            <a:schemeClr val="accent1"/>
          </a:solidFill>
          <a:ln/>
        </p:spPr>
      </p:sp>
      <p:pic>
        <p:nvPicPr>
          <p:cNvPr id="8" name="Image 1" descr="ShieldAlt icon">    </p:cNvPr>
          <p:cNvPicPr>
            <a:picLocks noChangeAspect="1"/>
          </p:cNvPicPr>
          <p:nvPr/>
        </p:nvPicPr>
        <p:blipFill>
          <a:blip r:embed="rId2"/>
          <a:stretch>
            <a:fillRect/>
          </a:stretch>
        </p:blipFill>
        <p:spPr>
          <a:xfrm>
            <a:off x="891540" y="5554980"/>
            <a:ext cx="228600" cy="228600"/>
          </a:xfrm>
          <a:prstGeom prst="rect">
            <a:avLst/>
          </a:prstGeom>
        </p:spPr>
      </p:pic>
      <p:sp>
        <p:nvSpPr>
          <p:cNvPr id="9" name="Text 5"/>
          <p:cNvSpPr txBox="1"/>
          <p:nvPr/>
        </p:nvSpPr>
        <p:spPr>
          <a:xfrm>
            <a:off x="1463040" y="5166360"/>
            <a:ext cx="5029200" cy="1005840"/>
          </a:xfrm>
          <a:prstGeom prst="rect">
            <a:avLst/>
          </a:prstGeom>
          <a:noFill/>
          <a:ln/>
        </p:spPr>
        <p:txBody>
          <a:bodyPr wrap="square" lIns="0" tIns="0" rIns="0" bIns="0" rtlCol="0" anchor="ctr"/>
          <a:lstStyle/>
          <a:p>
            <a:pPr algn="l" indent="0" marL="0">
              <a:buNone/>
            </a:pPr>
            <a:r>
              <a:rPr lang="en-US" sz="1600" dirty="0">
                <a:solidFill>
                  <a:schemeClr val="tx1"/>
                </a:solidFill>
              </a:rPr>
              <a:t>Alert simulation shows how thresholds work without changing real disk contents.</a:t>
            </a:r>
            <a:endParaRPr lang="en-US" sz="1600" dirty="0"/>
          </a:p>
        </p:txBody>
      </p:sp>
      <p:sp>
        <p:nvSpPr>
          <p:cNvPr id="10" name="Text 6"/>
          <p:cNvSpPr txBox="1"/>
          <p:nvPr/>
        </p:nvSpPr>
        <p:spPr>
          <a:xfrm>
            <a:off x="7040880" y="1645920"/>
            <a:ext cx="4599432" cy="365760"/>
          </a:xfrm>
          <a:prstGeom prst="rect">
            <a:avLst/>
          </a:prstGeom>
          <a:noFill/>
          <a:ln/>
        </p:spPr>
        <p:txBody>
          <a:bodyPr wrap="square" lIns="0" tIns="0" rIns="0" bIns="0" rtlCol="0" anchor="t"/>
          <a:lstStyle/>
          <a:p>
            <a:pPr algn="l" indent="0" marL="0">
              <a:buNone/>
            </a:pPr>
            <a:r>
              <a:rPr lang="en-US" sz="1800" b="1" dirty="0">
                <a:solidFill>
                  <a:schemeClr val="tx1"/>
                </a:solidFill>
              </a:rPr>
              <a:t>Dashboard summary cards</a:t>
            </a:r>
            <a:endParaRPr lang="en-US" sz="1800" dirty="0"/>
          </a:p>
        </p:txBody>
      </p:sp>
      <p:sp>
        <p:nvSpPr>
          <p:cNvPr id="11" name="Summary chip 1"/>
          <p:cNvSpPr/>
          <p:nvPr/>
        </p:nvSpPr>
        <p:spPr>
          <a:xfrm>
            <a:off x="7040880" y="2103120"/>
            <a:ext cx="2240280" cy="420624"/>
          </a:xfrm>
          <a:prstGeom prst="roundRect">
            <a:avLst>
              <a:gd name="adj" fmla="val 43478"/>
            </a:avLst>
          </a:prstGeom>
          <a:solidFill>
            <a:schemeClr val="bg2"/>
          </a:solidFill>
          <a:ln/>
        </p:spPr>
      </p:sp>
      <p:sp>
        <p:nvSpPr>
          <p:cNvPr id="12" name="Text 8"/>
          <p:cNvSpPr txBox="1"/>
          <p:nvPr/>
        </p:nvSpPr>
        <p:spPr>
          <a:xfrm>
            <a:off x="7040880" y="2103120"/>
            <a:ext cx="2240280" cy="420624"/>
          </a:xfrm>
          <a:prstGeom prst="rect">
            <a:avLst/>
          </a:prstGeom>
          <a:noFill/>
          <a:ln/>
        </p:spPr>
        <p:txBody>
          <a:bodyPr wrap="square" lIns="0" tIns="0" rIns="0" bIns="0" rtlCol="0" anchor="ctr"/>
          <a:lstStyle/>
          <a:p>
            <a:pPr algn="ctr" indent="0" marL="0">
              <a:buNone/>
            </a:pPr>
            <a:r>
              <a:rPr lang="en-US" sz="1300" b="1" dirty="0">
                <a:solidFill>
                  <a:schemeClr val="accent6"/>
                </a:solidFill>
              </a:rPr>
              <a:t>Detected filesystems</a:t>
            </a:r>
            <a:endParaRPr lang="en-US" sz="1300" dirty="0"/>
          </a:p>
        </p:txBody>
      </p:sp>
      <p:sp>
        <p:nvSpPr>
          <p:cNvPr id="13" name="Summary chip 2"/>
          <p:cNvSpPr/>
          <p:nvPr/>
        </p:nvSpPr>
        <p:spPr>
          <a:xfrm>
            <a:off x="9372600" y="2103120"/>
            <a:ext cx="2240280" cy="420624"/>
          </a:xfrm>
          <a:prstGeom prst="roundRect">
            <a:avLst>
              <a:gd name="adj" fmla="val 43478"/>
            </a:avLst>
          </a:prstGeom>
          <a:solidFill>
            <a:schemeClr val="bg2"/>
          </a:solidFill>
          <a:ln/>
        </p:spPr>
      </p:sp>
      <p:sp>
        <p:nvSpPr>
          <p:cNvPr id="14" name="Text 10"/>
          <p:cNvSpPr txBox="1"/>
          <p:nvPr/>
        </p:nvSpPr>
        <p:spPr>
          <a:xfrm>
            <a:off x="9372600" y="2103120"/>
            <a:ext cx="2240280" cy="420624"/>
          </a:xfrm>
          <a:prstGeom prst="rect">
            <a:avLst/>
          </a:prstGeom>
          <a:noFill/>
          <a:ln/>
        </p:spPr>
        <p:txBody>
          <a:bodyPr wrap="square" lIns="0" tIns="0" rIns="0" bIns="0" rtlCol="0" anchor="ctr"/>
          <a:lstStyle/>
          <a:p>
            <a:pPr algn="ctr" indent="0" marL="0">
              <a:buNone/>
            </a:pPr>
            <a:r>
              <a:rPr lang="en-US" sz="1300" b="1" dirty="0">
                <a:solidFill>
                  <a:schemeClr val="accent6"/>
                </a:solidFill>
              </a:rPr>
              <a:t>Highest disk usage</a:t>
            </a:r>
            <a:endParaRPr lang="en-US" sz="1300" dirty="0"/>
          </a:p>
        </p:txBody>
      </p:sp>
      <p:sp>
        <p:nvSpPr>
          <p:cNvPr id="15" name="Summary chip 3"/>
          <p:cNvSpPr/>
          <p:nvPr/>
        </p:nvSpPr>
        <p:spPr>
          <a:xfrm>
            <a:off x="7040880" y="2633472"/>
            <a:ext cx="2240280" cy="420624"/>
          </a:xfrm>
          <a:prstGeom prst="roundRect">
            <a:avLst>
              <a:gd name="adj" fmla="val 43478"/>
            </a:avLst>
          </a:prstGeom>
          <a:solidFill>
            <a:schemeClr val="bg2"/>
          </a:solidFill>
          <a:ln/>
        </p:spPr>
      </p:sp>
      <p:sp>
        <p:nvSpPr>
          <p:cNvPr id="16" name="Text 12"/>
          <p:cNvSpPr txBox="1"/>
          <p:nvPr/>
        </p:nvSpPr>
        <p:spPr>
          <a:xfrm>
            <a:off x="7040880" y="2633472"/>
            <a:ext cx="2240280" cy="420624"/>
          </a:xfrm>
          <a:prstGeom prst="rect">
            <a:avLst/>
          </a:prstGeom>
          <a:noFill/>
          <a:ln/>
        </p:spPr>
        <p:txBody>
          <a:bodyPr wrap="square" lIns="0" tIns="0" rIns="0" bIns="0" rtlCol="0" anchor="ctr"/>
          <a:lstStyle/>
          <a:p>
            <a:pPr algn="ctr" indent="0" marL="0">
              <a:buNone/>
            </a:pPr>
            <a:r>
              <a:rPr lang="en-US" sz="1300" b="1" dirty="0">
                <a:solidFill>
                  <a:schemeClr val="accent6"/>
                </a:solidFill>
              </a:rPr>
              <a:t>Active threshold alerts</a:t>
            </a:r>
            <a:endParaRPr lang="en-US" sz="1300" dirty="0"/>
          </a:p>
        </p:txBody>
      </p:sp>
      <p:sp>
        <p:nvSpPr>
          <p:cNvPr id="17" name="Summary chip 4"/>
          <p:cNvSpPr/>
          <p:nvPr/>
        </p:nvSpPr>
        <p:spPr>
          <a:xfrm>
            <a:off x="9372600" y="2633472"/>
            <a:ext cx="2240280" cy="420624"/>
          </a:xfrm>
          <a:prstGeom prst="roundRect">
            <a:avLst>
              <a:gd name="adj" fmla="val 43478"/>
            </a:avLst>
          </a:prstGeom>
          <a:solidFill>
            <a:schemeClr val="bg2"/>
          </a:solidFill>
          <a:ln/>
        </p:spPr>
      </p:sp>
      <p:sp>
        <p:nvSpPr>
          <p:cNvPr id="18" name="Text 14"/>
          <p:cNvSpPr txBox="1"/>
          <p:nvPr/>
        </p:nvSpPr>
        <p:spPr>
          <a:xfrm>
            <a:off x="9372600" y="2633472"/>
            <a:ext cx="2240280" cy="420624"/>
          </a:xfrm>
          <a:prstGeom prst="rect">
            <a:avLst/>
          </a:prstGeom>
          <a:noFill/>
          <a:ln/>
        </p:spPr>
        <p:txBody>
          <a:bodyPr wrap="square" lIns="0" tIns="0" rIns="0" bIns="0" rtlCol="0" anchor="ctr"/>
          <a:lstStyle/>
          <a:p>
            <a:pPr algn="ctr" indent="0" marL="0">
              <a:buNone/>
            </a:pPr>
            <a:r>
              <a:rPr lang="en-US" sz="1300" b="1" dirty="0">
                <a:solidFill>
                  <a:schemeClr val="accent6"/>
                </a:solidFill>
              </a:rPr>
              <a:t>Hostname</a:t>
            </a:r>
            <a:endParaRPr lang="en-US" sz="1300" dirty="0"/>
          </a:p>
        </p:txBody>
      </p:sp>
      <p:sp>
        <p:nvSpPr>
          <p:cNvPr id="19" name="Text 15"/>
          <p:cNvSpPr txBox="1"/>
          <p:nvPr/>
        </p:nvSpPr>
        <p:spPr>
          <a:xfrm>
            <a:off x="7040880" y="3429000"/>
            <a:ext cx="4599432" cy="365760"/>
          </a:xfrm>
          <a:prstGeom prst="rect">
            <a:avLst/>
          </a:prstGeom>
          <a:noFill/>
          <a:ln/>
        </p:spPr>
        <p:txBody>
          <a:bodyPr wrap="square" lIns="0" tIns="0" rIns="0" bIns="0" rtlCol="0" anchor="t"/>
          <a:lstStyle/>
          <a:p>
            <a:pPr algn="l" indent="0" marL="0">
              <a:buNone/>
            </a:pPr>
            <a:r>
              <a:rPr lang="en-US" sz="1800" b="1" dirty="0">
                <a:solidFill>
                  <a:schemeClr val="accent1"/>
                </a:solidFill>
              </a:rPr>
              <a:t>Testing: 9 of 9 </a:t>
            </a:r>
            <a:pPr algn="l" indent="0" marL="0">
              <a:buNone/>
            </a:pPr>
            <a:r>
              <a:rPr lang="en-US" sz="1800" b="1" dirty="0">
                <a:solidFill>
                  <a:schemeClr val="tx1"/>
                </a:solidFill>
              </a:rPr>
              <a:t>test cases matched</a:t>
            </a:r>
            <a:endParaRPr lang="en-US" sz="1800" dirty="0"/>
          </a:p>
        </p:txBody>
      </p:sp>
      <p:sp>
        <p:nvSpPr>
          <p:cNvPr id="20" name="Check circle 1"/>
          <p:cNvSpPr/>
          <p:nvPr/>
        </p:nvSpPr>
        <p:spPr>
          <a:xfrm>
            <a:off x="7040880" y="3968496"/>
            <a:ext cx="274320" cy="274320"/>
          </a:xfrm>
          <a:prstGeom prst="ellipse">
            <a:avLst/>
          </a:prstGeom>
          <a:solidFill>
            <a:schemeClr val="accent1"/>
          </a:solidFill>
          <a:ln/>
        </p:spPr>
      </p:sp>
      <p:pic>
        <p:nvPicPr>
          <p:cNvPr id="21" name="Image 2" descr="check">    </p:cNvPr>
          <p:cNvPicPr>
            <a:picLocks noChangeAspect="1"/>
          </p:cNvPicPr>
          <p:nvPr/>
        </p:nvPicPr>
        <p:blipFill>
          <a:blip r:embed="rId3"/>
          <a:stretch>
            <a:fillRect/>
          </a:stretch>
        </p:blipFill>
        <p:spPr>
          <a:xfrm>
            <a:off x="7104888" y="4032504"/>
            <a:ext cx="146304" cy="146304"/>
          </a:xfrm>
          <a:prstGeom prst="rect">
            <a:avLst/>
          </a:prstGeom>
        </p:spPr>
      </p:pic>
      <p:sp>
        <p:nvSpPr>
          <p:cNvPr id="22" name="Text 17"/>
          <p:cNvSpPr txBox="1"/>
          <p:nvPr/>
        </p:nvSpPr>
        <p:spPr>
          <a:xfrm>
            <a:off x="7424928" y="39319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Dashboard launch</a:t>
            </a:r>
            <a:endParaRPr lang="en-US" sz="1400" dirty="0"/>
          </a:p>
        </p:txBody>
      </p:sp>
      <p:sp>
        <p:nvSpPr>
          <p:cNvPr id="23" name="Check circle 2"/>
          <p:cNvSpPr/>
          <p:nvPr/>
        </p:nvSpPr>
        <p:spPr>
          <a:xfrm>
            <a:off x="7040880" y="4425696"/>
            <a:ext cx="274320" cy="274320"/>
          </a:xfrm>
          <a:prstGeom prst="ellipse">
            <a:avLst/>
          </a:prstGeom>
          <a:solidFill>
            <a:schemeClr val="accent1"/>
          </a:solidFill>
          <a:ln/>
        </p:spPr>
      </p:sp>
      <p:pic>
        <p:nvPicPr>
          <p:cNvPr id="24" name="Image 3" descr="check">    </p:cNvPr>
          <p:cNvPicPr>
            <a:picLocks noChangeAspect="1"/>
          </p:cNvPicPr>
          <p:nvPr/>
        </p:nvPicPr>
        <p:blipFill>
          <a:blip r:embed="rId4"/>
          <a:stretch>
            <a:fillRect/>
          </a:stretch>
        </p:blipFill>
        <p:spPr>
          <a:xfrm>
            <a:off x="7104888" y="4489704"/>
            <a:ext cx="146304" cy="146304"/>
          </a:xfrm>
          <a:prstGeom prst="rect">
            <a:avLst/>
          </a:prstGeom>
        </p:spPr>
      </p:pic>
      <p:sp>
        <p:nvSpPr>
          <p:cNvPr id="25" name="Text 19"/>
          <p:cNvSpPr txBox="1"/>
          <p:nvPr/>
        </p:nvSpPr>
        <p:spPr>
          <a:xfrm>
            <a:off x="7424928" y="43891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Filesystem data</a:t>
            </a:r>
            <a:endParaRPr lang="en-US" sz="1400" dirty="0"/>
          </a:p>
        </p:txBody>
      </p:sp>
      <p:sp>
        <p:nvSpPr>
          <p:cNvPr id="26" name="Check circle 3"/>
          <p:cNvSpPr/>
          <p:nvPr/>
        </p:nvSpPr>
        <p:spPr>
          <a:xfrm>
            <a:off x="7040880" y="4882896"/>
            <a:ext cx="274320" cy="274320"/>
          </a:xfrm>
          <a:prstGeom prst="ellipse">
            <a:avLst/>
          </a:prstGeom>
          <a:solidFill>
            <a:schemeClr val="accent1"/>
          </a:solidFill>
          <a:ln/>
        </p:spPr>
      </p:sp>
      <p:pic>
        <p:nvPicPr>
          <p:cNvPr id="27" name="Image 4" descr="check">    </p:cNvPr>
          <p:cNvPicPr>
            <a:picLocks noChangeAspect="1"/>
          </p:cNvPicPr>
          <p:nvPr/>
        </p:nvPicPr>
        <p:blipFill>
          <a:blip r:embed="rId5"/>
          <a:stretch>
            <a:fillRect/>
          </a:stretch>
        </p:blipFill>
        <p:spPr>
          <a:xfrm>
            <a:off x="7104888" y="4946904"/>
            <a:ext cx="146304" cy="146304"/>
          </a:xfrm>
          <a:prstGeom prst="rect">
            <a:avLst/>
          </a:prstGeom>
        </p:spPr>
      </p:pic>
      <p:sp>
        <p:nvSpPr>
          <p:cNvPr id="28" name="Text 21"/>
          <p:cNvSpPr txBox="1"/>
          <p:nvPr/>
        </p:nvSpPr>
        <p:spPr>
          <a:xfrm>
            <a:off x="7424928" y="48463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Inode data</a:t>
            </a:r>
            <a:endParaRPr lang="en-US" sz="1400" dirty="0"/>
          </a:p>
        </p:txBody>
      </p:sp>
      <p:sp>
        <p:nvSpPr>
          <p:cNvPr id="29" name="Check circle 4"/>
          <p:cNvSpPr/>
          <p:nvPr/>
        </p:nvSpPr>
        <p:spPr>
          <a:xfrm>
            <a:off x="7040880" y="5340096"/>
            <a:ext cx="274320" cy="274320"/>
          </a:xfrm>
          <a:prstGeom prst="ellipse">
            <a:avLst/>
          </a:prstGeom>
          <a:solidFill>
            <a:schemeClr val="accent1"/>
          </a:solidFill>
          <a:ln/>
        </p:spPr>
      </p:sp>
      <p:pic>
        <p:nvPicPr>
          <p:cNvPr id="30" name="Image 5" descr="check">    </p:cNvPr>
          <p:cNvPicPr>
            <a:picLocks noChangeAspect="1"/>
          </p:cNvPicPr>
          <p:nvPr/>
        </p:nvPicPr>
        <p:blipFill>
          <a:blip r:embed="rId6"/>
          <a:stretch>
            <a:fillRect/>
          </a:stretch>
        </p:blipFill>
        <p:spPr>
          <a:xfrm>
            <a:off x="7104888" y="5404104"/>
            <a:ext cx="146304" cy="146304"/>
          </a:xfrm>
          <a:prstGeom prst="rect">
            <a:avLst/>
          </a:prstGeom>
        </p:spPr>
      </p:pic>
      <p:sp>
        <p:nvSpPr>
          <p:cNvPr id="31" name="Text 23"/>
          <p:cNvSpPr txBox="1"/>
          <p:nvPr/>
        </p:nvSpPr>
        <p:spPr>
          <a:xfrm>
            <a:off x="7424928" y="53035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Command output</a:t>
            </a:r>
            <a:endParaRPr lang="en-US" sz="1400" dirty="0"/>
          </a:p>
        </p:txBody>
      </p:sp>
      <p:sp>
        <p:nvSpPr>
          <p:cNvPr id="32" name="Check circle 5"/>
          <p:cNvSpPr/>
          <p:nvPr/>
        </p:nvSpPr>
        <p:spPr>
          <a:xfrm>
            <a:off x="7040880" y="5797296"/>
            <a:ext cx="274320" cy="274320"/>
          </a:xfrm>
          <a:prstGeom prst="ellipse">
            <a:avLst/>
          </a:prstGeom>
          <a:solidFill>
            <a:schemeClr val="accent1"/>
          </a:solidFill>
          <a:ln/>
        </p:spPr>
      </p:sp>
      <p:pic>
        <p:nvPicPr>
          <p:cNvPr id="33" name="Image 6" descr="check">    </p:cNvPr>
          <p:cNvPicPr>
            <a:picLocks noChangeAspect="1"/>
          </p:cNvPicPr>
          <p:nvPr/>
        </p:nvPicPr>
        <p:blipFill>
          <a:blip r:embed="rId7"/>
          <a:stretch>
            <a:fillRect/>
          </a:stretch>
        </p:blipFill>
        <p:spPr>
          <a:xfrm>
            <a:off x="7104888" y="5861304"/>
            <a:ext cx="146304" cy="146304"/>
          </a:xfrm>
          <a:prstGeom prst="rect">
            <a:avLst/>
          </a:prstGeom>
        </p:spPr>
      </p:pic>
      <p:sp>
        <p:nvSpPr>
          <p:cNvPr id="34" name="Text 25"/>
          <p:cNvSpPr txBox="1"/>
          <p:nvPr/>
        </p:nvSpPr>
        <p:spPr>
          <a:xfrm>
            <a:off x="7424928" y="57607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Threshold update</a:t>
            </a:r>
            <a:endParaRPr lang="en-US" sz="1400" dirty="0"/>
          </a:p>
        </p:txBody>
      </p:sp>
      <p:sp>
        <p:nvSpPr>
          <p:cNvPr id="35" name="Check circle 6"/>
          <p:cNvSpPr/>
          <p:nvPr/>
        </p:nvSpPr>
        <p:spPr>
          <a:xfrm>
            <a:off x="9372600" y="3968496"/>
            <a:ext cx="274320" cy="274320"/>
          </a:xfrm>
          <a:prstGeom prst="ellipse">
            <a:avLst/>
          </a:prstGeom>
          <a:solidFill>
            <a:schemeClr val="accent1"/>
          </a:solidFill>
          <a:ln/>
        </p:spPr>
      </p:sp>
      <p:pic>
        <p:nvPicPr>
          <p:cNvPr id="36" name="Image 7" descr="check">    </p:cNvPr>
          <p:cNvPicPr>
            <a:picLocks noChangeAspect="1"/>
          </p:cNvPicPr>
          <p:nvPr/>
        </p:nvPicPr>
        <p:blipFill>
          <a:blip r:embed="rId8"/>
          <a:stretch>
            <a:fillRect/>
          </a:stretch>
        </p:blipFill>
        <p:spPr>
          <a:xfrm>
            <a:off x="9436608" y="4032504"/>
            <a:ext cx="146304" cy="146304"/>
          </a:xfrm>
          <a:prstGeom prst="rect">
            <a:avLst/>
          </a:prstGeom>
        </p:spPr>
      </p:pic>
      <p:sp>
        <p:nvSpPr>
          <p:cNvPr id="37" name="Text 27"/>
          <p:cNvSpPr txBox="1"/>
          <p:nvPr/>
        </p:nvSpPr>
        <p:spPr>
          <a:xfrm>
            <a:off x="9756648" y="39319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Alert simulation</a:t>
            </a:r>
            <a:endParaRPr lang="en-US" sz="1400" dirty="0"/>
          </a:p>
        </p:txBody>
      </p:sp>
      <p:sp>
        <p:nvSpPr>
          <p:cNvPr id="38" name="Check circle 7"/>
          <p:cNvSpPr/>
          <p:nvPr/>
        </p:nvSpPr>
        <p:spPr>
          <a:xfrm>
            <a:off x="9372600" y="4425696"/>
            <a:ext cx="274320" cy="274320"/>
          </a:xfrm>
          <a:prstGeom prst="ellipse">
            <a:avLst/>
          </a:prstGeom>
          <a:solidFill>
            <a:schemeClr val="accent1"/>
          </a:solidFill>
          <a:ln/>
        </p:spPr>
      </p:sp>
      <p:pic>
        <p:nvPicPr>
          <p:cNvPr id="39" name="Image 8" descr="check">    </p:cNvPr>
          <p:cNvPicPr>
            <a:picLocks noChangeAspect="1"/>
          </p:cNvPicPr>
          <p:nvPr/>
        </p:nvPicPr>
        <p:blipFill>
          <a:blip r:embed="rId9"/>
          <a:stretch>
            <a:fillRect/>
          </a:stretch>
        </p:blipFill>
        <p:spPr>
          <a:xfrm>
            <a:off x="9436608" y="4489704"/>
            <a:ext cx="146304" cy="146304"/>
          </a:xfrm>
          <a:prstGeom prst="rect">
            <a:avLst/>
          </a:prstGeom>
        </p:spPr>
      </p:pic>
      <p:sp>
        <p:nvSpPr>
          <p:cNvPr id="40" name="Text 29"/>
          <p:cNvSpPr txBox="1"/>
          <p:nvPr/>
        </p:nvSpPr>
        <p:spPr>
          <a:xfrm>
            <a:off x="9756648" y="43891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Log viewing</a:t>
            </a:r>
            <a:endParaRPr lang="en-US" sz="1400" dirty="0"/>
          </a:p>
        </p:txBody>
      </p:sp>
      <p:sp>
        <p:nvSpPr>
          <p:cNvPr id="41" name="Check circle 8"/>
          <p:cNvSpPr/>
          <p:nvPr/>
        </p:nvSpPr>
        <p:spPr>
          <a:xfrm>
            <a:off x="9372600" y="4882896"/>
            <a:ext cx="274320" cy="274320"/>
          </a:xfrm>
          <a:prstGeom prst="ellipse">
            <a:avLst/>
          </a:prstGeom>
          <a:solidFill>
            <a:schemeClr val="accent1"/>
          </a:solidFill>
          <a:ln/>
        </p:spPr>
      </p:sp>
      <p:pic>
        <p:nvPicPr>
          <p:cNvPr id="42" name="Image 9" descr="check">    </p:cNvPr>
          <p:cNvPicPr>
            <a:picLocks noChangeAspect="1"/>
          </p:cNvPicPr>
          <p:nvPr/>
        </p:nvPicPr>
        <p:blipFill>
          <a:blip r:embed="rId10"/>
          <a:stretch>
            <a:fillRect/>
          </a:stretch>
        </p:blipFill>
        <p:spPr>
          <a:xfrm>
            <a:off x="9436608" y="4946904"/>
            <a:ext cx="146304" cy="146304"/>
          </a:xfrm>
          <a:prstGeom prst="rect">
            <a:avLst/>
          </a:prstGeom>
        </p:spPr>
      </p:pic>
      <p:sp>
        <p:nvSpPr>
          <p:cNvPr id="43" name="Text 31"/>
          <p:cNvSpPr txBox="1"/>
          <p:nvPr/>
        </p:nvSpPr>
        <p:spPr>
          <a:xfrm>
            <a:off x="9756648" y="48463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Report download</a:t>
            </a:r>
            <a:endParaRPr lang="en-US" sz="1400" dirty="0"/>
          </a:p>
        </p:txBody>
      </p:sp>
      <p:sp>
        <p:nvSpPr>
          <p:cNvPr id="44" name="Check circle 9"/>
          <p:cNvSpPr/>
          <p:nvPr/>
        </p:nvSpPr>
        <p:spPr>
          <a:xfrm>
            <a:off x="9372600" y="5340096"/>
            <a:ext cx="274320" cy="274320"/>
          </a:xfrm>
          <a:prstGeom prst="ellipse">
            <a:avLst/>
          </a:prstGeom>
          <a:solidFill>
            <a:schemeClr val="accent1"/>
          </a:solidFill>
          <a:ln/>
        </p:spPr>
      </p:sp>
      <p:pic>
        <p:nvPicPr>
          <p:cNvPr id="45" name="Image 10" descr="check">    </p:cNvPr>
          <p:cNvPicPr>
            <a:picLocks noChangeAspect="1"/>
          </p:cNvPicPr>
          <p:nvPr/>
        </p:nvPicPr>
        <p:blipFill>
          <a:blip r:embed="rId11"/>
          <a:stretch>
            <a:fillRect/>
          </a:stretch>
        </p:blipFill>
        <p:spPr>
          <a:xfrm>
            <a:off x="9436608" y="5404104"/>
            <a:ext cx="146304" cy="146304"/>
          </a:xfrm>
          <a:prstGeom prst="rect">
            <a:avLst/>
          </a:prstGeom>
        </p:spPr>
      </p:pic>
      <p:sp>
        <p:nvSpPr>
          <p:cNvPr id="46" name="Text 33"/>
          <p:cNvSpPr txBox="1"/>
          <p:nvPr/>
        </p:nvSpPr>
        <p:spPr>
          <a:xfrm>
            <a:off x="9756648" y="5303520"/>
            <a:ext cx="1874520" cy="347472"/>
          </a:xfrm>
          <a:prstGeom prst="rect">
            <a:avLst/>
          </a:prstGeom>
          <a:noFill/>
          <a:ln/>
        </p:spPr>
        <p:txBody>
          <a:bodyPr wrap="square" lIns="0" tIns="0" rIns="0" bIns="0" rtlCol="0" anchor="ctr"/>
          <a:lstStyle/>
          <a:p>
            <a:pPr algn="l" indent="0" marL="0">
              <a:buNone/>
            </a:pPr>
            <a:r>
              <a:rPr lang="en-US" sz="1400" dirty="0">
                <a:solidFill>
                  <a:schemeClr val="tx1"/>
                </a:solidFill>
              </a:rPr>
              <a:t>Bad input rejected</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 and Future Scope</a:t>
            </a:r>
            <a:endParaRPr lang="en-US" sz="3600" dirty="0"/>
          </a:p>
        </p:txBody>
      </p:sp>
      <p:sp>
        <p:nvSpPr>
          <p:cNvPr id="3" name="Card closing column 1"/>
          <p:cNvSpPr/>
          <p:nvPr/>
        </p:nvSpPr>
        <p:spPr>
          <a:xfrm>
            <a:off x="548640" y="1371600"/>
            <a:ext cx="3246120" cy="4206240"/>
          </a:xfrm>
          <a:prstGeom prst="roundRect">
            <a:avLst>
              <a:gd name="adj" fmla="val 3380"/>
            </a:avLst>
          </a:prstGeom>
          <a:solidFill>
            <a:schemeClr val="tx2"/>
          </a:solidFill>
          <a:ln/>
        </p:spPr>
      </p:sp>
      <p:sp>
        <p:nvSpPr>
          <p:cNvPr id="4" name="Icon circle closing 1"/>
          <p:cNvSpPr/>
          <p:nvPr/>
        </p:nvSpPr>
        <p:spPr>
          <a:xfrm>
            <a:off x="777240" y="1554480"/>
            <a:ext cx="502920" cy="502920"/>
          </a:xfrm>
          <a:prstGeom prst="ellipse">
            <a:avLst/>
          </a:prstGeom>
          <a:solidFill>
            <a:schemeClr val="accent1"/>
          </a:solidFill>
          <a:ln/>
        </p:spPr>
      </p:sp>
      <p:pic>
        <p:nvPicPr>
          <p:cNvPr id="5" name="Image 0" descr="CheckCircle icon">    </p:cNvPr>
          <p:cNvPicPr>
            <a:picLocks noChangeAspect="1"/>
          </p:cNvPicPr>
          <p:nvPr/>
        </p:nvPicPr>
        <p:blipFill>
          <a:blip r:embed="rId1"/>
          <a:stretch>
            <a:fillRect/>
          </a:stretch>
        </p:blipFill>
        <p:spPr>
          <a:xfrm>
            <a:off x="902970" y="1680210"/>
            <a:ext cx="251460" cy="251460"/>
          </a:xfrm>
          <a:prstGeom prst="rect">
            <a:avLst/>
          </a:prstGeom>
        </p:spPr>
      </p:pic>
      <p:sp>
        <p:nvSpPr>
          <p:cNvPr id="6" name="Text 3"/>
          <p:cNvSpPr txBox="1"/>
          <p:nvPr/>
        </p:nvSpPr>
        <p:spPr>
          <a:xfrm>
            <a:off x="1417320" y="1554480"/>
            <a:ext cx="2194560" cy="502920"/>
          </a:xfrm>
          <a:prstGeom prst="rect">
            <a:avLst/>
          </a:prstGeom>
          <a:noFill/>
          <a:ln/>
        </p:spPr>
        <p:txBody>
          <a:bodyPr wrap="square" lIns="0" tIns="0" rIns="0" bIns="0" rtlCol="0" anchor="ctr"/>
          <a:lstStyle/>
          <a:p>
            <a:pPr algn="l" indent="0" marL="0">
              <a:buNone/>
            </a:pPr>
            <a:r>
              <a:rPr lang="en-US" sz="1800" b="1" dirty="0">
                <a:solidFill>
                  <a:schemeClr val="bg1"/>
                </a:solidFill>
              </a:rPr>
              <a:t>Conclusion</a:t>
            </a:r>
            <a:endParaRPr lang="en-US" sz="1800" dirty="0"/>
          </a:p>
        </p:txBody>
      </p:sp>
      <p:sp>
        <p:nvSpPr>
          <p:cNvPr id="7" name="Text 4"/>
          <p:cNvSpPr txBox="1"/>
          <p:nvPr/>
        </p:nvSpPr>
        <p:spPr>
          <a:xfrm>
            <a:off x="777240" y="2286000"/>
            <a:ext cx="2788920" cy="3474720"/>
          </a:xfrm>
          <a:prstGeom prst="rect">
            <a:avLst/>
          </a:prstGeom>
          <a:noFill/>
          <a:ln/>
        </p:spPr>
        <p:txBody>
          <a:bodyPr wrap="square" lIns="0" tIns="0" rIns="0" bIns="0" rtlCol="0" anchor="t"/>
          <a:lstStyle/>
          <a:p>
            <a:pPr algn="l" marL="342900" indent="-342900">
              <a:spcAft>
                <a:spcPts val="900"/>
              </a:spcAft>
              <a:buSzPct val="100000"/>
              <a:buChar char="•"/>
            </a:pPr>
            <a:r>
              <a:rPr lang="en-US" sz="1400" dirty="0">
                <a:solidFill>
                  <a:schemeClr val="bg1"/>
                </a:solidFill>
              </a:rPr>
              <a:t>Links Linux commands with a web dashboard to make storage checks simple</a:t>
            </a:r>
            <a:endParaRPr lang="en-US" sz="1400" dirty="0"/>
          </a:p>
          <a:p>
            <a:pPr algn="l" marL="342900" indent="-342900">
              <a:spcAft>
                <a:spcPts val="900"/>
              </a:spcAft>
              <a:buSzPct val="100000"/>
              <a:buChar char="•"/>
            </a:pPr>
            <a:r>
              <a:rPr lang="en-US" sz="1400" dirty="0">
                <a:solidFill>
                  <a:schemeClr val="bg1"/>
                </a:solidFill>
              </a:rPr>
              <a:t>One place for disk space, inodes, alerts, command output, logs and reports</a:t>
            </a:r>
            <a:endParaRPr lang="en-US" sz="1400" dirty="0"/>
          </a:p>
          <a:p>
            <a:pPr algn="l" marL="342900" indent="-342900">
              <a:spcAft>
                <a:spcPts val="900"/>
              </a:spcAft>
              <a:buSzPct val="100000"/>
              <a:buChar char="•"/>
            </a:pPr>
            <a:r>
              <a:rPr lang="en-US" sz="1400" dirty="0">
                <a:solidFill>
                  <a:schemeClr val="bg1"/>
                </a:solidFill>
              </a:rPr>
              <a:t>Applies Linux administration, backend development and basic security</a:t>
            </a:r>
            <a:endParaRPr lang="en-US" sz="1400" dirty="0"/>
          </a:p>
          <a:p>
            <a:pPr algn="l" marL="342900" indent="-342900">
              <a:spcAft>
                <a:spcPts val="900"/>
              </a:spcAft>
              <a:buSzPct val="100000"/>
              <a:buChar char="•"/>
            </a:pPr>
            <a:r>
              <a:rPr lang="en-US" sz="1400" dirty="0">
                <a:solidFill>
                  <a:schemeClr val="bg1"/>
                </a:solidFill>
              </a:rPr>
              <a:t>A base for a fuller storage administration platform</a:t>
            </a:r>
            <a:endParaRPr lang="en-US" sz="1400" dirty="0"/>
          </a:p>
        </p:txBody>
      </p:sp>
      <p:sp>
        <p:nvSpPr>
          <p:cNvPr id="8" name="Card closing column 2"/>
          <p:cNvSpPr/>
          <p:nvPr/>
        </p:nvSpPr>
        <p:spPr>
          <a:xfrm>
            <a:off x="4023360" y="1371600"/>
            <a:ext cx="3246120" cy="4206240"/>
          </a:xfrm>
          <a:prstGeom prst="roundRect">
            <a:avLst>
              <a:gd name="adj" fmla="val 3380"/>
            </a:avLst>
          </a:prstGeom>
          <a:solidFill>
            <a:schemeClr val="tx2"/>
          </a:solidFill>
          <a:ln/>
        </p:spPr>
      </p:sp>
      <p:sp>
        <p:nvSpPr>
          <p:cNvPr id="9" name="Icon circle closing 2"/>
          <p:cNvSpPr/>
          <p:nvPr/>
        </p:nvSpPr>
        <p:spPr>
          <a:xfrm>
            <a:off x="4251960" y="1554480"/>
            <a:ext cx="502920" cy="502920"/>
          </a:xfrm>
          <a:prstGeom prst="ellipse">
            <a:avLst/>
          </a:prstGeom>
          <a:solidFill>
            <a:schemeClr val="accent2"/>
          </a:solidFill>
          <a:ln/>
        </p:spPr>
      </p:sp>
      <p:pic>
        <p:nvPicPr>
          <p:cNvPr id="10" name="Image 1" descr="ExclamationTriangle icon">    </p:cNvPr>
          <p:cNvPicPr>
            <a:picLocks noChangeAspect="1"/>
          </p:cNvPicPr>
          <p:nvPr/>
        </p:nvPicPr>
        <p:blipFill>
          <a:blip r:embed="rId2"/>
          <a:stretch>
            <a:fillRect/>
          </a:stretch>
        </p:blipFill>
        <p:spPr>
          <a:xfrm>
            <a:off x="4377690" y="1680210"/>
            <a:ext cx="251460" cy="251460"/>
          </a:xfrm>
          <a:prstGeom prst="rect">
            <a:avLst/>
          </a:prstGeom>
        </p:spPr>
      </p:pic>
      <p:sp>
        <p:nvSpPr>
          <p:cNvPr id="11" name="Text 7"/>
          <p:cNvSpPr txBox="1"/>
          <p:nvPr/>
        </p:nvSpPr>
        <p:spPr>
          <a:xfrm>
            <a:off x="4892040" y="1554480"/>
            <a:ext cx="2194560" cy="502920"/>
          </a:xfrm>
          <a:prstGeom prst="rect">
            <a:avLst/>
          </a:prstGeom>
          <a:noFill/>
          <a:ln/>
        </p:spPr>
        <p:txBody>
          <a:bodyPr wrap="square" lIns="0" tIns="0" rIns="0" bIns="0" rtlCol="0" anchor="ctr"/>
          <a:lstStyle/>
          <a:p>
            <a:pPr algn="l" indent="0" marL="0">
              <a:buNone/>
            </a:pPr>
            <a:r>
              <a:rPr lang="en-US" sz="1800" b="1" dirty="0">
                <a:solidFill>
                  <a:schemeClr val="bg1"/>
                </a:solidFill>
              </a:rPr>
              <a:t>Current limits</a:t>
            </a:r>
            <a:endParaRPr lang="en-US" sz="1800" dirty="0"/>
          </a:p>
        </p:txBody>
      </p:sp>
      <p:sp>
        <p:nvSpPr>
          <p:cNvPr id="12" name="Text 8"/>
          <p:cNvSpPr txBox="1"/>
          <p:nvPr/>
        </p:nvSpPr>
        <p:spPr>
          <a:xfrm>
            <a:off x="4251960" y="2286000"/>
            <a:ext cx="2788920" cy="3474720"/>
          </a:xfrm>
          <a:prstGeom prst="rect">
            <a:avLst/>
          </a:prstGeom>
          <a:noFill/>
          <a:ln/>
        </p:spPr>
        <p:txBody>
          <a:bodyPr wrap="square" lIns="0" tIns="0" rIns="0" bIns="0" rtlCol="0" anchor="t"/>
          <a:lstStyle/>
          <a:p>
            <a:pPr algn="l" marL="342900" indent="-342900">
              <a:spcAft>
                <a:spcPts val="900"/>
              </a:spcAft>
              <a:buSzPct val="100000"/>
              <a:buChar char="•"/>
            </a:pPr>
            <a:r>
              <a:rPr lang="en-US" sz="1400" dirty="0">
                <a:solidFill>
                  <a:schemeClr val="bg1"/>
                </a:solidFill>
              </a:rPr>
              <a:t>No automatic delete, resize, create or cleanup actions</a:t>
            </a:r>
            <a:endParaRPr lang="en-US" sz="1400" dirty="0"/>
          </a:p>
          <a:p>
            <a:pPr algn="l" marL="342900" indent="-342900">
              <a:spcAft>
                <a:spcPts val="900"/>
              </a:spcAft>
              <a:buSzPct val="100000"/>
              <a:buChar char="•"/>
            </a:pPr>
            <a:r>
              <a:rPr lang="en-US" sz="1400" dirty="0">
                <a:solidFill>
                  <a:schemeClr val="bg1"/>
                </a:solidFill>
              </a:rPr>
              <a:t>Simulation shows threshold logic, not real disk pressure</a:t>
            </a:r>
            <a:endParaRPr lang="en-US" sz="1400" dirty="0"/>
          </a:p>
          <a:p>
            <a:pPr algn="l" marL="342900" indent="-342900">
              <a:spcAft>
                <a:spcPts val="900"/>
              </a:spcAft>
              <a:buSzPct val="100000"/>
              <a:buChar char="•"/>
            </a:pPr>
            <a:r>
              <a:rPr lang="en-US" sz="1400" dirty="0">
                <a:solidFill>
                  <a:schemeClr val="bg1"/>
                </a:solidFill>
              </a:rPr>
              <a:t>No scheduled checks, history graphs, email alerts or multi-user login</a:t>
            </a:r>
            <a:endParaRPr lang="en-US" sz="1400" dirty="0"/>
          </a:p>
          <a:p>
            <a:pPr algn="l" marL="342900" indent="-342900">
              <a:spcAft>
                <a:spcPts val="900"/>
              </a:spcAft>
              <a:buSzPct val="100000"/>
              <a:buChar char="•"/>
            </a:pPr>
            <a:r>
              <a:rPr lang="en-US" sz="1400" dirty="0">
                <a:solidFill>
                  <a:schemeClr val="bg1"/>
                </a:solidFill>
              </a:rPr>
              <a:t>Disk health and temperature may be unavailable in a virtual machine</a:t>
            </a:r>
            <a:endParaRPr lang="en-US" sz="1400" dirty="0"/>
          </a:p>
        </p:txBody>
      </p:sp>
      <p:sp>
        <p:nvSpPr>
          <p:cNvPr id="13" name="Card closing column 3"/>
          <p:cNvSpPr/>
          <p:nvPr/>
        </p:nvSpPr>
        <p:spPr>
          <a:xfrm>
            <a:off x="7498080" y="1371600"/>
            <a:ext cx="4142232" cy="4206240"/>
          </a:xfrm>
          <a:prstGeom prst="roundRect">
            <a:avLst>
              <a:gd name="adj" fmla="val 2649"/>
            </a:avLst>
          </a:prstGeom>
          <a:solidFill>
            <a:schemeClr val="tx2"/>
          </a:solidFill>
          <a:ln/>
        </p:spPr>
      </p:sp>
      <p:sp>
        <p:nvSpPr>
          <p:cNvPr id="14" name="Icon circle closing 3"/>
          <p:cNvSpPr/>
          <p:nvPr/>
        </p:nvSpPr>
        <p:spPr>
          <a:xfrm>
            <a:off x="7726680" y="1554480"/>
            <a:ext cx="502920" cy="502920"/>
          </a:xfrm>
          <a:prstGeom prst="ellipse">
            <a:avLst/>
          </a:prstGeom>
          <a:solidFill>
            <a:schemeClr val="accent4"/>
          </a:solidFill>
          <a:ln/>
        </p:spPr>
      </p:sp>
      <p:pic>
        <p:nvPicPr>
          <p:cNvPr id="15" name="Image 2" descr="Rocket icon">    </p:cNvPr>
          <p:cNvPicPr>
            <a:picLocks noChangeAspect="1"/>
          </p:cNvPicPr>
          <p:nvPr/>
        </p:nvPicPr>
        <p:blipFill>
          <a:blip r:embed="rId3"/>
          <a:stretch>
            <a:fillRect/>
          </a:stretch>
        </p:blipFill>
        <p:spPr>
          <a:xfrm>
            <a:off x="7852410" y="1680210"/>
            <a:ext cx="251460" cy="251460"/>
          </a:xfrm>
          <a:prstGeom prst="rect">
            <a:avLst/>
          </a:prstGeom>
        </p:spPr>
      </p:pic>
      <p:sp>
        <p:nvSpPr>
          <p:cNvPr id="16" name="Text 11"/>
          <p:cNvSpPr txBox="1"/>
          <p:nvPr/>
        </p:nvSpPr>
        <p:spPr>
          <a:xfrm>
            <a:off x="8366760" y="1554480"/>
            <a:ext cx="3090672" cy="502920"/>
          </a:xfrm>
          <a:prstGeom prst="rect">
            <a:avLst/>
          </a:prstGeom>
          <a:noFill/>
          <a:ln/>
        </p:spPr>
        <p:txBody>
          <a:bodyPr wrap="square" lIns="0" tIns="0" rIns="0" bIns="0" rtlCol="0" anchor="ctr"/>
          <a:lstStyle/>
          <a:p>
            <a:pPr algn="l" indent="0" marL="0">
              <a:buNone/>
            </a:pPr>
            <a:r>
              <a:rPr lang="en-US" sz="1800" b="1" dirty="0">
                <a:solidFill>
                  <a:schemeClr val="bg1"/>
                </a:solidFill>
              </a:rPr>
              <a:t>Future enhancements</a:t>
            </a:r>
            <a:endParaRPr lang="en-US" sz="1800" dirty="0"/>
          </a:p>
        </p:txBody>
      </p:sp>
      <p:sp>
        <p:nvSpPr>
          <p:cNvPr id="17" name="Text 12"/>
          <p:cNvSpPr txBox="1"/>
          <p:nvPr/>
        </p:nvSpPr>
        <p:spPr>
          <a:xfrm>
            <a:off x="7726680" y="2286000"/>
            <a:ext cx="3685032" cy="3474720"/>
          </a:xfrm>
          <a:prstGeom prst="rect">
            <a:avLst/>
          </a:prstGeom>
          <a:noFill/>
          <a:ln/>
        </p:spPr>
        <p:txBody>
          <a:bodyPr wrap="square" lIns="0" tIns="0" rIns="0" bIns="0" rtlCol="0" anchor="t"/>
          <a:lstStyle/>
          <a:p>
            <a:pPr algn="l" marL="342900" indent="-342900">
              <a:spcAft>
                <a:spcPts val="800"/>
              </a:spcAft>
              <a:buSzPct val="100000"/>
              <a:buChar char="•"/>
            </a:pPr>
            <a:r>
              <a:rPr lang="en-US" sz="1400" b="1" dirty="0">
                <a:solidFill>
                  <a:schemeClr val="accent2"/>
                </a:solidFill>
              </a:rPr>
              <a:t>Automated monitoring: </a:t>
            </a:r>
            <a:pPr algn="l" marL="342900" indent="-342900">
              <a:spcAft>
                <a:spcPts val="800"/>
              </a:spcAft>
              <a:buSzPct val="100000"/>
              <a:buChar char="•"/>
            </a:pPr>
            <a:r>
              <a:rPr lang="en-US" sz="1400" dirty="0">
                <a:solidFill>
                  <a:schemeClr val="bg1"/>
                </a:solidFill>
              </a:rPr>
              <a:t>Cron or background checks</a:t>
            </a:r>
            <a:endParaRPr lang="en-US" sz="1400" dirty="0"/>
          </a:p>
          <a:p>
            <a:pPr algn="l" marL="342900" indent="-342900">
              <a:spcAft>
                <a:spcPts val="800"/>
              </a:spcAft>
              <a:buSzPct val="100000"/>
              <a:buChar char="•"/>
            </a:pPr>
            <a:r>
              <a:rPr lang="en-US" sz="1400" b="1" dirty="0">
                <a:solidFill>
                  <a:schemeClr val="accent2"/>
                </a:solidFill>
              </a:rPr>
              <a:t>History graphs: </a:t>
            </a:r>
            <a:pPr algn="l" marL="342900" indent="-342900">
              <a:spcAft>
                <a:spcPts val="800"/>
              </a:spcAft>
              <a:buSzPct val="100000"/>
              <a:buChar char="•"/>
            </a:pPr>
            <a:r>
              <a:rPr lang="en-US" sz="1400" dirty="0">
                <a:solidFill>
                  <a:schemeClr val="bg1"/>
                </a:solidFill>
              </a:rPr>
              <a:t>usage trends over time</a:t>
            </a:r>
            <a:endParaRPr lang="en-US" sz="1400" dirty="0"/>
          </a:p>
          <a:p>
            <a:pPr algn="l" marL="342900" indent="-342900">
              <a:spcAft>
                <a:spcPts val="800"/>
              </a:spcAft>
              <a:buSzPct val="100000"/>
              <a:buChar char="•"/>
            </a:pPr>
            <a:r>
              <a:rPr lang="en-US" sz="1400" b="1" dirty="0">
                <a:solidFill>
                  <a:schemeClr val="accent2"/>
                </a:solidFill>
              </a:rPr>
              <a:t>Notifications: </a:t>
            </a:r>
            <a:pPr algn="l" marL="342900" indent="-342900">
              <a:spcAft>
                <a:spcPts val="800"/>
              </a:spcAft>
              <a:buSzPct val="100000"/>
              <a:buChar char="•"/>
            </a:pPr>
            <a:r>
              <a:rPr lang="en-US" sz="1400" dirty="0">
                <a:solidFill>
                  <a:schemeClr val="bg1"/>
                </a:solidFill>
              </a:rPr>
              <a:t>email alerts at critical levels</a:t>
            </a:r>
            <a:endParaRPr lang="en-US" sz="1400" dirty="0"/>
          </a:p>
          <a:p>
            <a:pPr algn="l" marL="342900" indent="-342900">
              <a:spcAft>
                <a:spcPts val="800"/>
              </a:spcAft>
              <a:buSzPct val="100000"/>
              <a:buChar char="•"/>
            </a:pPr>
            <a:r>
              <a:rPr lang="en-US" sz="1400" b="1" dirty="0">
                <a:solidFill>
                  <a:schemeClr val="accent2"/>
                </a:solidFill>
              </a:rPr>
              <a:t>Storage analysis: </a:t>
            </a:r>
            <a:pPr algn="l" marL="342900" indent="-342900">
              <a:spcAft>
                <a:spcPts val="800"/>
              </a:spcAft>
              <a:buSzPct val="100000"/>
              <a:buChar char="•"/>
            </a:pPr>
            <a:r>
              <a:rPr lang="en-US" sz="1400" dirty="0">
                <a:solidFill>
                  <a:schemeClr val="bg1"/>
                </a:solidFill>
              </a:rPr>
              <a:t>top space users with du</a:t>
            </a:r>
            <a:endParaRPr lang="en-US" sz="1400" dirty="0"/>
          </a:p>
          <a:p>
            <a:pPr algn="l" marL="342900" indent="-342900">
              <a:spcAft>
                <a:spcPts val="800"/>
              </a:spcAft>
              <a:buSzPct val="100000"/>
              <a:buChar char="•"/>
            </a:pPr>
            <a:r>
              <a:rPr lang="en-US" sz="1400" b="1" dirty="0">
                <a:solidFill>
                  <a:schemeClr val="accent2"/>
                </a:solidFill>
              </a:rPr>
              <a:t>Backups: </a:t>
            </a:r>
            <a:pPr algn="l" marL="342900" indent="-342900">
              <a:spcAft>
                <a:spcPts val="800"/>
              </a:spcAft>
              <a:buSzPct val="100000"/>
              <a:buChar char="•"/>
            </a:pPr>
            <a:r>
              <a:rPr lang="en-US" sz="1400" dirty="0">
                <a:solidFill>
                  <a:schemeClr val="bg1"/>
                </a:solidFill>
              </a:rPr>
              <a:t>create and verify</a:t>
            </a:r>
            <a:endParaRPr lang="en-US" sz="1400" dirty="0"/>
          </a:p>
          <a:p>
            <a:pPr algn="l" marL="342900" indent="-342900">
              <a:spcAft>
                <a:spcPts val="800"/>
              </a:spcAft>
              <a:buSzPct val="100000"/>
              <a:buChar char="•"/>
            </a:pPr>
            <a:r>
              <a:rPr lang="en-US" sz="1400" b="1" dirty="0">
                <a:solidFill>
                  <a:schemeClr val="accent2"/>
                </a:solidFill>
              </a:rPr>
              <a:t>Authentication: </a:t>
            </a:r>
            <a:pPr algn="l" marL="342900" indent="-342900">
              <a:spcAft>
                <a:spcPts val="800"/>
              </a:spcAft>
              <a:buSzPct val="100000"/>
              <a:buChar char="•"/>
            </a:pPr>
            <a:r>
              <a:rPr lang="en-US" sz="1400" dirty="0">
                <a:solidFill>
                  <a:schemeClr val="bg1"/>
                </a:solidFill>
              </a:rPr>
              <a:t>login and role-based access</a:t>
            </a:r>
            <a:endParaRPr lang="en-US" sz="1400" dirty="0"/>
          </a:p>
          <a:p>
            <a:pPr algn="l" marL="342900" indent="-342900">
              <a:spcAft>
                <a:spcPts val="800"/>
              </a:spcAft>
              <a:buSzPct val="100000"/>
              <a:buChar char="•"/>
            </a:pPr>
            <a:r>
              <a:rPr lang="en-US" sz="1400" b="1" dirty="0">
                <a:solidFill>
                  <a:schemeClr val="accent2"/>
                </a:solidFill>
              </a:rPr>
              <a:t>Multi-system: </a:t>
            </a:r>
            <a:pPr algn="l" marL="342900" indent="-342900">
              <a:spcAft>
                <a:spcPts val="800"/>
              </a:spcAft>
              <a:buSzPct val="100000"/>
              <a:buChar char="•"/>
            </a:pPr>
            <a:r>
              <a:rPr lang="en-US" sz="1400" dirty="0">
                <a:solidFill>
                  <a:schemeClr val="bg1"/>
                </a:solidFill>
              </a:rPr>
              <a:t>monitor many Linux machines</a:t>
            </a:r>
            <a:endParaRPr lang="en-US" sz="1400" dirty="0"/>
          </a:p>
          <a:p>
            <a:pPr algn="l" marL="342900" indent="-342900">
              <a:spcAft>
                <a:spcPts val="800"/>
              </a:spcAft>
              <a:buSzPct val="100000"/>
              <a:buChar char="•"/>
            </a:pPr>
            <a:r>
              <a:rPr lang="en-US" sz="1400" b="1" dirty="0">
                <a:solidFill>
                  <a:schemeClr val="accent2"/>
                </a:solidFill>
              </a:rPr>
              <a:t>Better reports: </a:t>
            </a:r>
            <a:pPr algn="l" marL="342900" indent="-342900">
              <a:spcAft>
                <a:spcPts val="800"/>
              </a:spcAft>
              <a:buSzPct val="100000"/>
              <a:buChar char="•"/>
            </a:pPr>
            <a:r>
              <a:rPr lang="en-US" sz="1400" dirty="0">
                <a:solidFill>
                  <a:schemeClr val="bg1"/>
                </a:solidFill>
              </a:rPr>
              <a:t>CSV export, graphs, period comparison</a:t>
            </a:r>
            <a:endParaRPr lang="en-US" sz="1400" dirty="0"/>
          </a:p>
        </p:txBody>
      </p:sp>
      <p:sp>
        <p:nvSpPr>
          <p:cNvPr id="18" name="Text 13"/>
          <p:cNvSpPr txBox="1"/>
          <p:nvPr/>
        </p:nvSpPr>
        <p:spPr>
          <a:xfrm>
            <a:off x="548640" y="5852160"/>
            <a:ext cx="11091672" cy="274320"/>
          </a:xfrm>
          <a:prstGeom prst="rect">
            <a:avLst/>
          </a:prstGeom>
          <a:noFill/>
          <a:ln/>
        </p:spPr>
        <p:txBody>
          <a:bodyPr wrap="square" lIns="0" tIns="0" rIns="0" bIns="0" rtlCol="0" anchor="t"/>
          <a:lstStyle/>
          <a:p>
            <a:pPr algn="l" indent="0" marL="0">
              <a:buNone/>
            </a:pPr>
            <a:r>
              <a:rPr lang="en-US" sz="1100" dirty="0">
                <a:solidFill>
                  <a:schemeClr val="bg2"/>
                </a:solidFill>
              </a:rPr>
              <a:t>References: Linux man-pages (df, lsblk, findmnt)  |  Flask Documentation  |  Python 3 Documentation  |  Kali Linux Documentation  |  Oracle VirtualBox Documentation</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Storage Monitor">
  <a:themeElements>
    <a:clrScheme name="Storage Monitor">
      <a:dk1>
        <a:srgbClr val="0B1F1C"/>
      </a:dk1>
      <a:lt1>
        <a:srgbClr val="FFFFFF"/>
      </a:lt1>
      <a:dk2>
        <a:srgbClr val="153630"/>
      </a:dk2>
      <a:lt2>
        <a:srgbClr val="EEF5F3"/>
      </a:lt2>
      <a:accent1>
        <a:srgbClr val="0E9477"/>
      </a:accent1>
      <a:accent2>
        <a:srgbClr val="F5A623"/>
      </a:accent2>
      <a:accent3>
        <a:srgbClr val="E5484D"/>
      </a:accent3>
      <a:accent4>
        <a:srgbClr val="2F6F8F"/>
      </a:accent4>
      <a:accent5>
        <a:srgbClr val="5B6E69"/>
      </a:accent5>
      <a:accent6>
        <a:srgbClr val="1B4D44"/>
      </a:accent6>
      <a:hlink>
        <a:srgbClr val="0E9477"/>
      </a:hlink>
      <a:folHlink>
        <a:srgbClr val="5B6E69"/>
      </a:folHlink>
    </a:clrScheme>
    <a:fontScheme name="Storage Moni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Storage Monitoring System</dc:title>
  <dc:subject>PptxGenJS Presentation</dc:subject>
  <dc:creator>Koushik K T, Nehaa Mahesh, Shauryaman Singh</dc:creator>
  <cp:lastModifiedBy>Koushik K T, Nehaa Mahesh, Shauryaman Singh</cp:lastModifiedBy>
  <cp:revision>1</cp:revision>
  <dcterms:created xsi:type="dcterms:W3CDTF">2026-10-28T02:37:56Z</dcterms:created>
  <dcterms:modified xsi:type="dcterms:W3CDTF">2026-10-28T02:37:56Z</dcterms:modified>
</cp:coreProperties>
</file>